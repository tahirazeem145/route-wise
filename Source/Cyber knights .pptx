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 Id="rId4" Type="http://schemas.openxmlformats.org/officeDocument/2006/relationships/custom-properties" Target="docProps/custom.xml" /></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11" d="100"/>
          <a:sy n="111" d="100"/>
        </p:scale>
        <p:origin x="55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 /><Relationship Id="rId3" Type="http://schemas.openxmlformats.org/officeDocument/2006/relationships/slide" Target="slides/slide2.xml" /><Relationship Id="rId7" Type="http://schemas.openxmlformats.org/officeDocument/2006/relationships/slide" Target="slides/slide6.xml" /><Relationship Id="rId12" Type="http://schemas.openxmlformats.org/officeDocument/2006/relationships/tableStyles" Target="tableStyles.xml" /><Relationship Id="rId2" Type="http://schemas.openxmlformats.org/officeDocument/2006/relationships/slide" Target="slides/slide1.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theme" Target="theme/theme1.xml" /><Relationship Id="rId5" Type="http://schemas.openxmlformats.org/officeDocument/2006/relationships/slide" Target="slides/slide4.xml" /><Relationship Id="rId10" Type="http://schemas.openxmlformats.org/officeDocument/2006/relationships/viewProps" Target="viewProps.xml" /><Relationship Id="rId4" Type="http://schemas.openxmlformats.org/officeDocument/2006/relationships/slide" Target="slides/slide3.xml" /><Relationship Id="rId9" Type="http://schemas.openxmlformats.org/officeDocument/2006/relationships/presProps" Target="pres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Spend no more than 10 seconds here. Say your team name, your product in one line, and who your four points of contact are. Replace every bracketed item before you present.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Introduce one real-feeling person and the problem from their side. Use the persona from your MRD. Keep the workaround honest: “no competitors” is almost never true.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10 seconds. One insight only, the one that most shaped your product. Mark anything you could not verify as an assumption; judges reward that honesty.</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Name your three Must-Haves and the metric that proves them. Then show what you cut and why. A clear cut list is one of the strongest signals of product thinking.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centrepiece, about two minutes. Leave this slide up for a moment so judges see which criteria you will show, then switch to the app and walk through each row in order. Your Dev drives, your BA narrates. If the live app fails, play the backup recording straight away.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15 seconds. Be specific and honest. One prompt that really helped, one thing the AI got wrong and how you caught it, and what you changed. This slide feeds the AI collaboration score.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p:spPr>
        <p:txBody>
          <a:bodyPr wrap="square" lIns="0" tIns="0" rIns="0" bIns="0" rtlCol="0" anchor="t"/>
          <a:lstStyle>
            <a:lvl1pPr marL="0" indent="0" algn="l">
              <a:lnSpc>
                <a:spcPct val="115000"/>
              </a:lnSpc>
              <a:buNone/>
              <a:defRPr lang="en-US" sz="3200" dirty="0">
                <a:solidFill>
                  <a:srgbClr val="17154A"/>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p:spPr>
        <p:txBody>
          <a:bodyPr wrap="square" lIns="0" tIns="0" rIns="0" bIns="0" rtlCol="0" anchor="t"/>
          <a:lstStyle>
            <a:lvl1pPr marL="0" indent="0" algn="l">
              <a:lnSpc>
                <a:spcPct val="140000"/>
              </a:lnSpc>
              <a:buNone/>
              <a:defRPr lang="en-US" sz="1600" dirty="0">
                <a:solidFill>
                  <a:srgbClr val="17154A"/>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767" y="1102237"/>
            <a:ext cx="10566466" cy="426641"/>
          </a:xfrm>
          <a:prstGeom prst="rect">
            <a:avLst/>
          </a:prstGeom>
          <a:noFill/>
        </p:spPr>
        <p:txBody>
          <a:bodyPr wrap="square" lIns="0" tIns="0" rIns="0" bIns="0" rtlCol="0" anchor="t"/>
          <a:lstStyle>
            <a:lvl1pPr marL="0" indent="0" algn="l">
              <a:lnSpc>
                <a:spcPct val="115000"/>
              </a:lnSpc>
              <a:buNone/>
              <a:defRPr lang="en-US" sz="3200" dirty="0">
                <a:solidFill>
                  <a:srgbClr val="17154A"/>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767" y="1833677"/>
            <a:ext cx="10566433" cy="4211523"/>
          </a:xfrm>
          <a:prstGeom prst="rect">
            <a:avLst/>
          </a:prstGeom>
          <a:noFill/>
        </p:spPr>
        <p:txBody>
          <a:bodyPr wrap="square" lIns="0" tIns="0" rIns="0" bIns="0" rtlCol="0" anchor="t"/>
          <a:lstStyle>
            <a:lvl1pPr marL="0" indent="0" algn="l">
              <a:lnSpc>
                <a:spcPct val="140000"/>
              </a:lnSpc>
              <a:buNone/>
              <a:defRPr lang="en-US" sz="1600" dirty="0">
                <a:solidFill>
                  <a:srgbClr val="17154A"/>
                </a:solidFill>
                <a:latin typeface="Arial" panose="020B0604020202020204" pitchFamily="34" charset="0"/>
                <a:ea typeface="Arial" panose="020B0604020202020204" pitchFamily="34" charset="-122"/>
                <a:cs typeface="Arial" panose="020B0604020202020204"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 /><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3" Type="http://schemas.openxmlformats.org/officeDocument/2006/relationships/image" Target="../media/image3.png" /><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3" Type="http://schemas.openxmlformats.org/officeDocument/2006/relationships/image" Target="../media/image5.png" /><Relationship Id="rId2" Type="http://schemas.openxmlformats.org/officeDocument/2006/relationships/notesSlide" Target="../notesSlides/notesSlide6.xml" /><Relationship Id="rId1" Type="http://schemas.openxmlformats.org/officeDocument/2006/relationships/slideLayout" Target="../slideLayouts/slideLayout2.xml" /><Relationship Id="rId5" Type="http://schemas.openxmlformats.org/officeDocument/2006/relationships/image" Target="../media/image7.png" /><Relationship Id="rId4" Type="http://schemas.openxmlformats.org/officeDocument/2006/relationships/image" Target="../media/image6.png" /></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7154A"/>
        </a:solidFill>
        <a:effectLst/>
      </p:bgPr>
    </p:bg>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gradFill rotWithShape="1">
            <a:gsLst>
              <a:gs pos="0">
                <a:srgbClr val="17154A"/>
              </a:gs>
              <a:gs pos="60000">
                <a:srgbClr val="262381"/>
              </a:gs>
              <a:gs pos="100000">
                <a:srgbClr val="312F92"/>
              </a:gs>
            </a:gsLst>
            <a:lin ang="2700000" scaled="0"/>
          </a:gradFill>
        </p:spPr>
        <p:txBody>
          <a:bodyPr/>
          <a:lstStyle/>
          <a:p>
            <a:endParaRPr lang="en-IN"/>
          </a:p>
        </p:txBody>
      </p:sp>
      <p:sp>
        <p:nvSpPr>
          <p:cNvPr id="3" name="Shape 1"/>
          <p:cNvSpPr/>
          <p:nvPr/>
        </p:nvSpPr>
        <p:spPr>
          <a:xfrm>
            <a:off x="9017000" y="698500"/>
            <a:ext cx="2286000" cy="2286000"/>
          </a:xfrm>
          <a:prstGeom prst="roundRect">
            <a:avLst>
              <a:gd name="adj" fmla="val 50000"/>
            </a:avLst>
          </a:prstGeom>
          <a:gradFill rotWithShape="1">
            <a:gsLst>
              <a:gs pos="0">
                <a:srgbClr val="FFB066">
                  <a:alpha val="95000"/>
                </a:srgbClr>
              </a:gs>
              <a:gs pos="55000">
                <a:srgbClr val="F8821E">
                  <a:alpha val="95000"/>
                </a:srgbClr>
              </a:gs>
              <a:gs pos="100000">
                <a:srgbClr val="D9620A">
                  <a:alpha val="95000"/>
                </a:srgbClr>
              </a:gs>
            </a:gsLst>
            <a:path path="circle">
              <a:fillToRect l="35000" t="35000" r="65000" b="65000"/>
            </a:path>
          </a:gradFill>
        </p:spPr>
        <p:txBody>
          <a:bodyPr/>
          <a:lstStyle/>
          <a:p>
            <a:endParaRPr lang="en-IN"/>
          </a:p>
        </p:txBody>
      </p:sp>
      <p:sp>
        <p:nvSpPr>
          <p:cNvPr id="4" name="Shape 2"/>
          <p:cNvSpPr/>
          <p:nvPr/>
        </p:nvSpPr>
        <p:spPr>
          <a:xfrm>
            <a:off x="812767" y="711150"/>
            <a:ext cx="2120801" cy="736534"/>
          </a:xfrm>
          <a:prstGeom prst="roundRect">
            <a:avLst>
              <a:gd name="adj" fmla="val 15519"/>
            </a:avLst>
          </a:prstGeom>
          <a:solidFill>
            <a:srgbClr val="FBF8F2"/>
          </a:solidFill>
        </p:spPr>
        <p:txBody>
          <a:bodyPr/>
          <a:lstStyle/>
          <a:p>
            <a:endParaRPr lang="en-IN"/>
          </a:p>
        </p:txBody>
      </p:sp>
      <p:pic>
        <p:nvPicPr>
          <p:cNvPr id="5" name="Image 0" descr="JJ College of Engineering and Technology logo"/>
          <p:cNvPicPr>
            <a:picLocks noChangeAspect="1"/>
          </p:cNvPicPr>
          <p:nvPr/>
        </p:nvPicPr>
        <p:blipFill>
          <a:blip r:embed="rId3"/>
          <a:srcRect t="-283" b="-283"/>
          <a:stretch>
            <a:fillRect/>
          </a:stretch>
        </p:blipFill>
        <p:spPr>
          <a:xfrm>
            <a:off x="952417" y="800034"/>
            <a:ext cx="1841500" cy="558767"/>
          </a:xfrm>
          <a:prstGeom prst="rect">
            <a:avLst/>
          </a:prstGeom>
        </p:spPr>
      </p:pic>
      <p:sp>
        <p:nvSpPr>
          <p:cNvPr id="6" name="Text 3"/>
          <p:cNvSpPr/>
          <p:nvPr/>
        </p:nvSpPr>
        <p:spPr>
          <a:xfrm>
            <a:off x="812767" y="2638309"/>
            <a:ext cx="7848600" cy="256497"/>
          </a:xfrm>
          <a:prstGeom prst="rect">
            <a:avLst/>
          </a:prstGeom>
          <a:noFill/>
        </p:spPr>
        <p:txBody>
          <a:bodyPr wrap="square" lIns="0" tIns="0" rIns="0" bIns="0" rtlCol="0" anchor="t">
            <a:normAutofit/>
          </a:bodyPr>
          <a:lstStyle/>
          <a:p>
            <a:pPr marL="0" indent="0" algn="l">
              <a:lnSpc>
                <a:spcPts val="1820"/>
              </a:lnSpc>
              <a:buNone/>
            </a:pPr>
            <a:r>
              <a:rPr lang="en-US" sz="1300" b="1" kern="0" spc="200" dirty="0">
                <a:solidFill>
                  <a:srgbClr val="FFB066"/>
                </a:solidFill>
                <a:latin typeface="Arial" panose="020B0604020202020204" pitchFamily="34" charset="0"/>
                <a:ea typeface="Arial" panose="020B0604020202020204" pitchFamily="34" charset="-122"/>
                <a:cs typeface="Arial" panose="020B0604020202020204" pitchFamily="34" charset="-120"/>
              </a:rPr>
              <a:t>AI-PDLC HACKATHON · TEAM [08]</a:t>
            </a:r>
            <a:endParaRPr lang="en-US" sz="1300" dirty="0"/>
          </a:p>
        </p:txBody>
      </p:sp>
      <p:sp>
        <p:nvSpPr>
          <p:cNvPr id="7" name="Text 4"/>
          <p:cNvSpPr>
            <a:spLocks noGrp="1"/>
          </p:cNvSpPr>
          <p:nvPr>
            <p:ph type="title"/>
          </p:nvPr>
        </p:nvSpPr>
        <p:spPr>
          <a:xfrm>
            <a:off x="812767" y="2996406"/>
            <a:ext cx="7848600" cy="685783"/>
          </a:xfrm>
          <a:prstGeom prst="rect">
            <a:avLst/>
          </a:prstGeom>
          <a:noFill/>
        </p:spPr>
        <p:txBody>
          <a:bodyPr wrap="square" lIns="0" tIns="0" rIns="0" bIns="0" rtlCol="0" anchor="t">
            <a:normAutofit fontScale="90000"/>
          </a:bodyPr>
          <a:lstStyle/>
          <a:p>
            <a:pPr marL="0" indent="0" algn="l">
              <a:lnSpc>
                <a:spcPts val="5200"/>
              </a:lnSpc>
              <a:buNone/>
            </a:pPr>
            <a:r>
              <a:rPr lang="en-US" sz="5200" b="1" dirty="0">
                <a:solidFill>
                  <a:schemeClr val="bg1"/>
                </a:solidFill>
              </a:rPr>
              <a:t>Cyber Knights</a:t>
            </a:r>
          </a:p>
        </p:txBody>
      </p:sp>
      <p:sp>
        <p:nvSpPr>
          <p:cNvPr id="8" name="Text 5"/>
          <p:cNvSpPr/>
          <p:nvPr/>
        </p:nvSpPr>
        <p:spPr>
          <a:xfrm>
            <a:off x="812767" y="3783790"/>
            <a:ext cx="7848600" cy="316772"/>
          </a:xfrm>
          <a:prstGeom prst="rect">
            <a:avLst/>
          </a:prstGeom>
          <a:noFill/>
        </p:spPr>
        <p:txBody>
          <a:bodyPr wrap="square" lIns="0" tIns="0" rIns="0" bIns="0" rtlCol="0" anchor="t">
            <a:normAutofit/>
          </a:bodyPr>
          <a:lstStyle/>
          <a:p>
            <a:pPr marL="0" indent="0" algn="l">
              <a:lnSpc>
                <a:spcPts val="2295"/>
              </a:lnSpc>
              <a:buNone/>
            </a:pPr>
            <a:r>
              <a:rPr lang="en-US" altLang="en-US" sz="1700" dirty="0">
                <a:solidFill>
                  <a:srgbClr val="D6D3F0"/>
                </a:solidFill>
                <a:latin typeface="Arial" panose="020B0604020202020204" pitchFamily="34" charset="0"/>
                <a:ea typeface="Arial" panose="020B0604020202020204" pitchFamily="34" charset="-122"/>
                <a:cs typeface="Arial" panose="020B0604020202020204" pitchFamily="34" charset="-120"/>
              </a:rPr>
              <a:t>Intelligent traffic prediction and route recommendation API for smarter navigation</a:t>
            </a:r>
            <a:endParaRPr lang="en-US" sz="1700" dirty="0"/>
          </a:p>
        </p:txBody>
      </p:sp>
      <p:sp>
        <p:nvSpPr>
          <p:cNvPr id="9" name="Shape 6"/>
          <p:cNvSpPr/>
          <p:nvPr/>
        </p:nvSpPr>
        <p:spPr>
          <a:xfrm>
            <a:off x="812767" y="5265704"/>
            <a:ext cx="2546366" cy="779529"/>
          </a:xfrm>
          <a:prstGeom prst="roundRect">
            <a:avLst>
              <a:gd name="adj" fmla="val 16292"/>
            </a:avLst>
          </a:prstGeom>
          <a:solidFill>
            <a:srgbClr val="26235E"/>
          </a:solidFill>
        </p:spPr>
        <p:txBody>
          <a:bodyPr/>
          <a:lstStyle/>
          <a:p>
            <a:endParaRPr lang="en-IN"/>
          </a:p>
        </p:txBody>
      </p:sp>
      <p:sp>
        <p:nvSpPr>
          <p:cNvPr id="10" name="Text 7"/>
          <p:cNvSpPr/>
          <p:nvPr/>
        </p:nvSpPr>
        <p:spPr>
          <a:xfrm>
            <a:off x="977801" y="5405355"/>
            <a:ext cx="2282788"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8821E"/>
                </a:solidFill>
                <a:latin typeface="Arial" panose="020B0604020202020204" pitchFamily="34" charset="0"/>
                <a:ea typeface="Arial" panose="020B0604020202020204" pitchFamily="34" charset="-122"/>
                <a:cs typeface="Arial" panose="020B0604020202020204" pitchFamily="34" charset="-120"/>
              </a:rPr>
              <a:t>BA</a:t>
            </a:r>
            <a:endParaRPr lang="en-US" sz="1200" dirty="0"/>
          </a:p>
        </p:txBody>
      </p:sp>
      <p:sp>
        <p:nvSpPr>
          <p:cNvPr id="11" name="Text 8"/>
          <p:cNvSpPr/>
          <p:nvPr/>
        </p:nvSpPr>
        <p:spPr>
          <a:xfrm>
            <a:off x="977801" y="5656709"/>
            <a:ext cx="2282788" cy="274274"/>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FBF8F2"/>
                </a:solidFill>
                <a:latin typeface="Arial" panose="020B0604020202020204" pitchFamily="34" charset="0"/>
                <a:ea typeface="Arial" panose="020B0604020202020204" pitchFamily="34" charset="-122"/>
                <a:cs typeface="Arial" panose="020B0604020202020204" pitchFamily="34" charset="-120"/>
              </a:rPr>
              <a:t>Suhail subbhan B</a:t>
            </a:r>
            <a:endParaRPr lang="en-US" sz="1400" dirty="0"/>
          </a:p>
        </p:txBody>
      </p:sp>
      <p:sp>
        <p:nvSpPr>
          <p:cNvPr id="12" name="Shape 9"/>
          <p:cNvSpPr/>
          <p:nvPr/>
        </p:nvSpPr>
        <p:spPr>
          <a:xfrm>
            <a:off x="3486133" y="5265704"/>
            <a:ext cx="2546366" cy="779529"/>
          </a:xfrm>
          <a:prstGeom prst="roundRect">
            <a:avLst>
              <a:gd name="adj" fmla="val 16292"/>
            </a:avLst>
          </a:prstGeom>
          <a:solidFill>
            <a:srgbClr val="26235E"/>
          </a:solidFill>
        </p:spPr>
        <p:txBody>
          <a:bodyPr/>
          <a:lstStyle/>
          <a:p>
            <a:endParaRPr lang="en-IN"/>
          </a:p>
        </p:txBody>
      </p:sp>
      <p:sp>
        <p:nvSpPr>
          <p:cNvPr id="13" name="Text 10"/>
          <p:cNvSpPr/>
          <p:nvPr/>
        </p:nvSpPr>
        <p:spPr>
          <a:xfrm>
            <a:off x="3651167" y="5405355"/>
            <a:ext cx="2282788"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8821E"/>
                </a:solidFill>
                <a:latin typeface="Arial" panose="020B0604020202020204" pitchFamily="34" charset="0"/>
                <a:ea typeface="Arial" panose="020B0604020202020204" pitchFamily="34" charset="-122"/>
                <a:cs typeface="Arial" panose="020B0604020202020204" pitchFamily="34" charset="-120"/>
              </a:rPr>
              <a:t>UI/UX</a:t>
            </a:r>
            <a:endParaRPr lang="en-US" sz="1200" dirty="0"/>
          </a:p>
        </p:txBody>
      </p:sp>
      <p:sp>
        <p:nvSpPr>
          <p:cNvPr id="14" name="Text 11"/>
          <p:cNvSpPr/>
          <p:nvPr/>
        </p:nvSpPr>
        <p:spPr>
          <a:xfrm>
            <a:off x="3651167" y="5656709"/>
            <a:ext cx="2282788" cy="274274"/>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FBF8F2"/>
                </a:solidFill>
                <a:latin typeface="Arial" panose="020B0604020202020204" pitchFamily="34" charset="0"/>
                <a:ea typeface="Arial" panose="020B0604020202020204" pitchFamily="34" charset="-122"/>
                <a:cs typeface="Arial" panose="020B0604020202020204" pitchFamily="34" charset="-120"/>
              </a:rPr>
              <a:t>Saranya R S</a:t>
            </a:r>
            <a:endParaRPr lang="en-US" sz="1400" dirty="0"/>
          </a:p>
        </p:txBody>
      </p:sp>
      <p:sp>
        <p:nvSpPr>
          <p:cNvPr id="15" name="Shape 12"/>
          <p:cNvSpPr/>
          <p:nvPr/>
        </p:nvSpPr>
        <p:spPr>
          <a:xfrm>
            <a:off x="6159500" y="5265704"/>
            <a:ext cx="2546366" cy="779529"/>
          </a:xfrm>
          <a:prstGeom prst="roundRect">
            <a:avLst>
              <a:gd name="adj" fmla="val 16292"/>
            </a:avLst>
          </a:prstGeom>
          <a:solidFill>
            <a:srgbClr val="26235E"/>
          </a:solidFill>
        </p:spPr>
        <p:txBody>
          <a:bodyPr/>
          <a:lstStyle/>
          <a:p>
            <a:endParaRPr lang="en-IN"/>
          </a:p>
        </p:txBody>
      </p:sp>
      <p:sp>
        <p:nvSpPr>
          <p:cNvPr id="16" name="Text 13"/>
          <p:cNvSpPr/>
          <p:nvPr/>
        </p:nvSpPr>
        <p:spPr>
          <a:xfrm>
            <a:off x="6324534" y="5405355"/>
            <a:ext cx="2282788"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8821E"/>
                </a:solidFill>
                <a:latin typeface="Arial" panose="020B0604020202020204" pitchFamily="34" charset="0"/>
                <a:ea typeface="Arial" panose="020B0604020202020204" pitchFamily="34" charset="-122"/>
                <a:cs typeface="Arial" panose="020B0604020202020204" pitchFamily="34" charset="-120"/>
              </a:rPr>
              <a:t>Dev</a:t>
            </a:r>
            <a:endParaRPr lang="en-US" sz="1200" dirty="0"/>
          </a:p>
        </p:txBody>
      </p:sp>
      <p:sp>
        <p:nvSpPr>
          <p:cNvPr id="17" name="Text 14"/>
          <p:cNvSpPr/>
          <p:nvPr/>
        </p:nvSpPr>
        <p:spPr>
          <a:xfrm>
            <a:off x="6324534" y="5656709"/>
            <a:ext cx="2282788" cy="274274"/>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FBF8F2"/>
                </a:solidFill>
                <a:latin typeface="Arial" panose="020B0604020202020204" pitchFamily="34" charset="0"/>
                <a:ea typeface="Arial" panose="020B0604020202020204" pitchFamily="34" charset="-122"/>
                <a:cs typeface="Arial" panose="020B0604020202020204" pitchFamily="34" charset="-120"/>
              </a:rPr>
              <a:t>Tahir Azeem R</a:t>
            </a:r>
            <a:endParaRPr lang="en-US" sz="1400" dirty="0"/>
          </a:p>
        </p:txBody>
      </p:sp>
      <p:sp>
        <p:nvSpPr>
          <p:cNvPr id="18" name="Shape 15"/>
          <p:cNvSpPr/>
          <p:nvPr/>
        </p:nvSpPr>
        <p:spPr>
          <a:xfrm>
            <a:off x="8832866" y="5265704"/>
            <a:ext cx="2546366" cy="779529"/>
          </a:xfrm>
          <a:prstGeom prst="roundRect">
            <a:avLst>
              <a:gd name="adj" fmla="val 16292"/>
            </a:avLst>
          </a:prstGeom>
          <a:solidFill>
            <a:srgbClr val="26235E"/>
          </a:solidFill>
        </p:spPr>
        <p:txBody>
          <a:bodyPr/>
          <a:lstStyle/>
          <a:p>
            <a:endParaRPr lang="en-IN"/>
          </a:p>
        </p:txBody>
      </p:sp>
      <p:sp>
        <p:nvSpPr>
          <p:cNvPr id="19" name="Text 16"/>
          <p:cNvSpPr/>
          <p:nvPr/>
        </p:nvSpPr>
        <p:spPr>
          <a:xfrm>
            <a:off x="8997900" y="5405355"/>
            <a:ext cx="2282788"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8821E"/>
                </a:solidFill>
                <a:latin typeface="Arial" panose="020B0604020202020204" pitchFamily="34" charset="0"/>
                <a:ea typeface="Arial" panose="020B0604020202020204" pitchFamily="34" charset="-122"/>
                <a:cs typeface="Arial" panose="020B0604020202020204" pitchFamily="34" charset="-120"/>
              </a:rPr>
              <a:t>QA</a:t>
            </a:r>
            <a:endParaRPr lang="en-US" sz="1200" dirty="0"/>
          </a:p>
        </p:txBody>
      </p:sp>
      <p:sp>
        <p:nvSpPr>
          <p:cNvPr id="20" name="Text 17"/>
          <p:cNvSpPr/>
          <p:nvPr/>
        </p:nvSpPr>
        <p:spPr>
          <a:xfrm>
            <a:off x="8997900" y="5656709"/>
            <a:ext cx="2282788" cy="274274"/>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FBF8F2"/>
                </a:solidFill>
                <a:latin typeface="Arial" panose="020B0604020202020204" pitchFamily="34" charset="0"/>
                <a:ea typeface="Arial" panose="020B0604020202020204" pitchFamily="34" charset="-122"/>
                <a:cs typeface="Arial" panose="020B0604020202020204" pitchFamily="34" charset="-120"/>
              </a:rPr>
              <a:t>Sainath L</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7"/>
            <a:ext cx="10883460"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anose="020B0604020202020204" pitchFamily="34" charset="0"/>
                <a:ea typeface="Arial" panose="020B0604020202020204" pitchFamily="34" charset="-122"/>
                <a:cs typeface="Arial" panose="020B0604020202020204" pitchFamily="34" charset="-120"/>
              </a:rPr>
              <a:t>THE PROBLEM</a:t>
            </a:r>
            <a:endParaRPr lang="en-US" sz="1200" dirty="0"/>
          </a:p>
        </p:txBody>
      </p:sp>
      <p:sp>
        <p:nvSpPr>
          <p:cNvPr id="3" name="Text 1"/>
          <p:cNvSpPr>
            <a:spLocks noGrp="1"/>
          </p:cNvSpPr>
          <p:nvPr>
            <p:ph type="title"/>
          </p:nvPr>
        </p:nvSpPr>
        <p:spPr>
          <a:xfrm>
            <a:off x="916272" y="1197487"/>
            <a:ext cx="10883460" cy="452041"/>
          </a:xfrm>
          <a:prstGeom prst="rect">
            <a:avLst/>
          </a:prstGeom>
          <a:noFill/>
        </p:spPr>
        <p:txBody>
          <a:bodyPr wrap="square" lIns="0" tIns="0" rIns="0" bIns="0" rtlCol="0" anchor="t">
            <a:normAutofit fontScale="90000"/>
          </a:bodyPr>
          <a:lstStyle/>
          <a:p>
            <a:pPr marL="0" indent="0" algn="l">
              <a:lnSpc>
                <a:spcPts val="3360"/>
              </a:lnSpc>
              <a:buNone/>
            </a:pPr>
            <a:r>
              <a:rPr lang="en-US" altLang="en-US" sz="3200" b="1" i="0" dirty="0">
                <a:solidFill>
                  <a:srgbClr val="17154A"/>
                </a:solidFill>
                <a:latin typeface="Arial" panose="020B0604020202020204" pitchFamily="34" charset="0"/>
                <a:ea typeface="Arial" panose="020B0604020202020204" pitchFamily="34" charset="-122"/>
                <a:cs typeface="Arial" panose="020B0604020202020204" pitchFamily="34" charset="-120"/>
              </a:rPr>
              <a:t>Navigation users can struggle to choose the most suitable route when traffic conditions change, causing unexpected delays and unreliable arrival-time estimates.</a:t>
            </a:r>
            <a:endParaRPr lang="en-US" sz="3200" dirty="0"/>
          </a:p>
        </p:txBody>
      </p:sp>
      <p:sp>
        <p:nvSpPr>
          <p:cNvPr id="4" name="Shape 2"/>
          <p:cNvSpPr/>
          <p:nvPr/>
        </p:nvSpPr>
        <p:spPr>
          <a:xfrm>
            <a:off x="812767" y="2577898"/>
            <a:ext cx="3302000" cy="2732484"/>
          </a:xfrm>
          <a:prstGeom prst="roundRect">
            <a:avLst>
              <a:gd name="adj" fmla="val 6507"/>
            </a:avLst>
          </a:prstGeom>
          <a:solidFill>
            <a:srgbClr val="312F92"/>
          </a:solidFill>
        </p:spPr>
        <p:txBody>
          <a:bodyPr/>
          <a:lstStyle/>
          <a:p>
            <a:endParaRPr lang="en-IN"/>
          </a:p>
        </p:txBody>
      </p:sp>
      <p:pic>
        <p:nvPicPr>
          <p:cNvPr id="5" name="Image 0" descr="Users"/>
          <p:cNvPicPr>
            <a:picLocks noChangeAspect="1"/>
          </p:cNvPicPr>
          <p:nvPr/>
        </p:nvPicPr>
        <p:blipFill>
          <a:blip r:embed="rId3"/>
          <a:srcRect/>
          <a:stretch>
            <a:fillRect/>
          </a:stretch>
        </p:blipFill>
        <p:spPr>
          <a:xfrm>
            <a:off x="1041301" y="2810877"/>
            <a:ext cx="355534" cy="355534"/>
          </a:xfrm>
          <a:prstGeom prst="rect">
            <a:avLst/>
          </a:prstGeom>
        </p:spPr>
      </p:pic>
      <p:sp>
        <p:nvSpPr>
          <p:cNvPr id="6" name="Text 3"/>
          <p:cNvSpPr/>
          <p:nvPr/>
        </p:nvSpPr>
        <p:spPr>
          <a:xfrm>
            <a:off x="1041301" y="3390549"/>
            <a:ext cx="2930280" cy="238720"/>
          </a:xfrm>
          <a:prstGeom prst="rect">
            <a:avLst/>
          </a:prstGeom>
          <a:noFill/>
        </p:spPr>
        <p:txBody>
          <a:bodyPr wrap="square" lIns="0" tIns="0" rIns="0" bIns="0" rtlCol="0" anchor="t">
            <a:normAutofit/>
          </a:bodyPr>
          <a:lstStyle/>
          <a:p>
            <a:pPr marL="0" indent="0" algn="l">
              <a:lnSpc>
                <a:spcPts val="1680"/>
              </a:lnSpc>
              <a:buNone/>
            </a:pPr>
            <a:r>
              <a:rPr lang="en-US" sz="1200" b="1" kern="0" spc="100" dirty="0">
                <a:solidFill>
                  <a:srgbClr val="FFB066"/>
                </a:solidFill>
                <a:latin typeface="Arial" panose="020B0604020202020204" pitchFamily="34" charset="0"/>
                <a:ea typeface="Arial" panose="020B0604020202020204" pitchFamily="34" charset="-122"/>
                <a:cs typeface="Arial" panose="020B0604020202020204" pitchFamily="34" charset="-120"/>
              </a:rPr>
              <a:t>PERSONA</a:t>
            </a:r>
            <a:endParaRPr lang="en-US" sz="1200" dirty="0"/>
          </a:p>
        </p:txBody>
      </p:sp>
      <p:sp>
        <p:nvSpPr>
          <p:cNvPr id="7" name="Text 4"/>
          <p:cNvSpPr/>
          <p:nvPr/>
        </p:nvSpPr>
        <p:spPr>
          <a:xfrm>
            <a:off x="1040031" y="3735933"/>
            <a:ext cx="2930280" cy="416487"/>
          </a:xfrm>
          <a:prstGeom prst="rect">
            <a:avLst/>
          </a:prstGeom>
          <a:noFill/>
        </p:spPr>
        <p:txBody>
          <a:bodyPr wrap="square" lIns="0" tIns="0" rIns="0" bIns="0" rtlCol="0" anchor="t">
            <a:normAutofit fontScale="90000"/>
          </a:bodyPr>
          <a:lstStyle/>
          <a:p>
            <a:pPr marL="0" indent="0" algn="l">
              <a:lnSpc>
                <a:spcPts val="3080"/>
              </a:lnSpc>
              <a:buNone/>
            </a:pPr>
            <a:r>
              <a:rPr lang="en-US" sz="2200" b="1" dirty="0">
                <a:solidFill>
                  <a:srgbClr val="FBF8F2"/>
                </a:solidFill>
                <a:latin typeface="Arial" panose="020B0604020202020204" pitchFamily="34" charset="0"/>
                <a:ea typeface="Arial" panose="020B0604020202020204" pitchFamily="34" charset="-122"/>
                <a:cs typeface="Arial" panose="020B0604020202020204" pitchFamily="34" charset="-120"/>
              </a:rPr>
              <a:t>Sanjay, </a:t>
            </a:r>
            <a:r>
              <a:rPr lang="en-US" altLang="en-US" sz="2200" b="1" dirty="0">
                <a:solidFill>
                  <a:srgbClr val="FBF8F2"/>
                </a:solidFill>
                <a:latin typeface="Arial" panose="020B0604020202020204" pitchFamily="34" charset="0"/>
                <a:ea typeface="Arial" panose="020B0604020202020204" pitchFamily="34" charset="-122"/>
                <a:cs typeface="Arial" panose="020B0604020202020204" pitchFamily="34" charset="-120"/>
              </a:rPr>
              <a:t>Daily commuter</a:t>
            </a:r>
            <a:endParaRPr lang="en-US" sz="2200" dirty="0"/>
          </a:p>
        </p:txBody>
      </p:sp>
      <p:sp>
        <p:nvSpPr>
          <p:cNvPr id="8" name="Text 5"/>
          <p:cNvSpPr/>
          <p:nvPr/>
        </p:nvSpPr>
        <p:spPr>
          <a:xfrm>
            <a:off x="1040666" y="4523244"/>
            <a:ext cx="2930280" cy="487594"/>
          </a:xfrm>
          <a:prstGeom prst="rect">
            <a:avLst/>
          </a:prstGeom>
          <a:noFill/>
        </p:spPr>
        <p:txBody>
          <a:bodyPr wrap="square" lIns="0" tIns="0" rIns="0" bIns="0" rtlCol="0" anchor="t">
            <a:normAutofit/>
          </a:bodyPr>
          <a:lstStyle/>
          <a:p>
            <a:pPr marL="0" indent="0" algn="l">
              <a:lnSpc>
                <a:spcPts val="1820"/>
              </a:lnSpc>
              <a:buNone/>
            </a:pPr>
            <a:r>
              <a:rPr lang="en-US" altLang="en-US" sz="1300" dirty="0">
                <a:solidFill>
                  <a:srgbClr val="E1DFF5"/>
                </a:solidFill>
                <a:latin typeface="Arial" panose="020B0604020202020204" pitchFamily="34" charset="0"/>
                <a:ea typeface="Arial" panose="020B0604020202020204" pitchFamily="34" charset="-122"/>
                <a:cs typeface="Arial" panose="020B0604020202020204" pitchFamily="34" charset="-120"/>
              </a:rPr>
              <a:t>21-year-old college student travelling across the city</a:t>
            </a:r>
            <a:endParaRPr lang="en-US" sz="1300" dirty="0"/>
          </a:p>
        </p:txBody>
      </p:sp>
      <p:sp>
        <p:nvSpPr>
          <p:cNvPr id="9" name="Shape 6"/>
          <p:cNvSpPr/>
          <p:nvPr/>
        </p:nvSpPr>
        <p:spPr>
          <a:xfrm>
            <a:off x="4342682" y="2581708"/>
            <a:ext cx="7048615" cy="813461"/>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0" name="Text 7"/>
          <p:cNvSpPr/>
          <p:nvPr/>
        </p:nvSpPr>
        <p:spPr>
          <a:xfrm>
            <a:off x="4506268" y="2688795"/>
            <a:ext cx="6885154"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8A3E05"/>
                </a:solidFill>
                <a:latin typeface="Arial" panose="020B0604020202020204" pitchFamily="34" charset="0"/>
                <a:ea typeface="Arial" panose="020B0604020202020204" pitchFamily="34" charset="-122"/>
                <a:cs typeface="Arial" panose="020B0604020202020204" pitchFamily="34" charset="-120"/>
              </a:rPr>
              <a:t>Pain point 1</a:t>
            </a:r>
            <a:endParaRPr lang="en-US" sz="1200" dirty="0"/>
          </a:p>
        </p:txBody>
      </p:sp>
      <p:sp>
        <p:nvSpPr>
          <p:cNvPr id="11" name="Text 8"/>
          <p:cNvSpPr/>
          <p:nvPr/>
        </p:nvSpPr>
        <p:spPr>
          <a:xfrm>
            <a:off x="4487853" y="3012539"/>
            <a:ext cx="6885154" cy="274274"/>
          </a:xfrm>
          <a:prstGeom prst="rect">
            <a:avLst/>
          </a:prstGeom>
          <a:noFill/>
        </p:spPr>
        <p:txBody>
          <a:bodyPr wrap="square" lIns="0" tIns="0" rIns="0" bIns="0" rtlCol="0" anchor="t">
            <a:normAutofit/>
          </a:bodyPr>
          <a:lstStyle/>
          <a:p>
            <a:pPr marL="0" indent="0" algn="l">
              <a:lnSpc>
                <a:spcPts val="1960"/>
              </a:lnSpc>
              <a:buNone/>
            </a:pPr>
            <a:r>
              <a:rPr lang="en-US" altLang="en-US" sz="1400" dirty="0">
                <a:solidFill>
                  <a:srgbClr val="17154A"/>
                </a:solidFill>
                <a:latin typeface="Arial" panose="020B0604020202020204" pitchFamily="34" charset="0"/>
                <a:ea typeface="Arial" panose="020B0604020202020204" pitchFamily="34" charset="-122"/>
                <a:cs typeface="Arial" panose="020B0604020202020204" pitchFamily="34" charset="-120"/>
              </a:rPr>
              <a:t>The route looks clear when I start, but traffic builds up before I reach my destination</a:t>
            </a:r>
            <a:endParaRPr lang="en-US" sz="1400" dirty="0"/>
          </a:p>
        </p:txBody>
      </p:sp>
      <p:sp>
        <p:nvSpPr>
          <p:cNvPr id="12" name="Shape 9"/>
          <p:cNvSpPr/>
          <p:nvPr/>
        </p:nvSpPr>
        <p:spPr>
          <a:xfrm>
            <a:off x="4342765" y="3564890"/>
            <a:ext cx="7019925" cy="920115"/>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3" name="Text 10"/>
          <p:cNvSpPr/>
          <p:nvPr/>
        </p:nvSpPr>
        <p:spPr>
          <a:xfrm>
            <a:off x="4506268" y="3669261"/>
            <a:ext cx="6885154"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8A3E05"/>
                </a:solidFill>
                <a:latin typeface="Arial" panose="020B0604020202020204" pitchFamily="34" charset="0"/>
                <a:ea typeface="Arial" panose="020B0604020202020204" pitchFamily="34" charset="-122"/>
                <a:cs typeface="Arial" panose="020B0604020202020204" pitchFamily="34" charset="-120"/>
              </a:rPr>
              <a:t>Pain point 2</a:t>
            </a:r>
            <a:endParaRPr lang="en-US" sz="1200" dirty="0"/>
          </a:p>
        </p:txBody>
      </p:sp>
      <p:sp>
        <p:nvSpPr>
          <p:cNvPr id="14" name="Text 11"/>
          <p:cNvSpPr/>
          <p:nvPr/>
        </p:nvSpPr>
        <p:spPr>
          <a:xfrm>
            <a:off x="4477693" y="3914900"/>
            <a:ext cx="6885154" cy="274274"/>
          </a:xfrm>
          <a:prstGeom prst="rect">
            <a:avLst/>
          </a:prstGeom>
          <a:noFill/>
        </p:spPr>
        <p:txBody>
          <a:bodyPr wrap="square" lIns="0" tIns="0" rIns="0" bIns="0" rtlCol="0" anchor="t">
            <a:noAutofit/>
          </a:bodyPr>
          <a:lstStyle/>
          <a:p>
            <a:pPr marL="0" indent="0" algn="l">
              <a:lnSpc>
                <a:spcPts val="1960"/>
              </a:lnSpc>
              <a:buNone/>
            </a:pPr>
            <a:r>
              <a:rPr lang="en-US" altLang="en-US" sz="1400" dirty="0"/>
              <a:t>I want to compare routes and choose one that is likely to save me time, not just one that looks fastest right now</a:t>
            </a:r>
          </a:p>
        </p:txBody>
      </p:sp>
      <p:sp>
        <p:nvSpPr>
          <p:cNvPr id="15" name="Shape 12"/>
          <p:cNvSpPr/>
          <p:nvPr/>
        </p:nvSpPr>
        <p:spPr>
          <a:xfrm>
            <a:off x="4342765" y="4564380"/>
            <a:ext cx="7036435" cy="1546225"/>
          </a:xfrm>
          <a:prstGeom prst="roundRect">
            <a:avLst>
              <a:gd name="adj" fmla="val 14832"/>
            </a:avLst>
          </a:prstGeom>
          <a:solidFill>
            <a:srgbClr val="FFFDF9"/>
          </a:solidFill>
          <a:ln w="12700">
            <a:solidFill>
              <a:srgbClr val="E3E0F2"/>
            </a:solidFill>
            <a:prstDash val="solid"/>
          </a:ln>
        </p:spPr>
        <p:txBody>
          <a:bodyPr/>
          <a:lstStyle/>
          <a:p>
            <a:endParaRPr lang="en-IN"/>
          </a:p>
        </p:txBody>
      </p:sp>
      <p:sp>
        <p:nvSpPr>
          <p:cNvPr id="16" name="Text 13"/>
          <p:cNvSpPr/>
          <p:nvPr/>
        </p:nvSpPr>
        <p:spPr>
          <a:xfrm>
            <a:off x="4506268" y="4649093"/>
            <a:ext cx="6885154"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8A3E05"/>
                </a:solidFill>
                <a:latin typeface="Arial" panose="020B0604020202020204" pitchFamily="34" charset="0"/>
                <a:ea typeface="Arial" panose="020B0604020202020204" pitchFamily="34" charset="-122"/>
                <a:cs typeface="Arial" panose="020B0604020202020204" pitchFamily="34" charset="-120"/>
              </a:rPr>
              <a:t>What they do today</a:t>
            </a:r>
            <a:endParaRPr lang="en-US" sz="1200" dirty="0"/>
          </a:p>
        </p:txBody>
      </p:sp>
      <p:sp>
        <p:nvSpPr>
          <p:cNvPr id="17" name="Text 14"/>
          <p:cNvSpPr/>
          <p:nvPr/>
        </p:nvSpPr>
        <p:spPr>
          <a:xfrm>
            <a:off x="4505960" y="4925060"/>
            <a:ext cx="6872605" cy="398145"/>
          </a:xfrm>
          <a:prstGeom prst="rect">
            <a:avLst/>
          </a:prstGeom>
          <a:noFill/>
        </p:spPr>
        <p:txBody>
          <a:bodyPr wrap="square" lIns="0" tIns="0" rIns="0" bIns="0" rtlCol="0" anchor="t">
            <a:noAutofit/>
          </a:bodyPr>
          <a:lstStyle/>
          <a:p>
            <a:pPr marL="0" indent="0" algn="l">
              <a:lnSpc>
                <a:spcPts val="1960"/>
              </a:lnSpc>
              <a:buNone/>
            </a:pPr>
            <a:r>
              <a:rPr lang="en-US" altLang="en-US" sz="1400" dirty="0"/>
              <a:t>They use existing navigation applications to check traffic and alternative routes. These tools already offer useful routing capabilities, but our project explores an additional developer-friendly layer for traffic prediction and customizable route ranking.</a:t>
            </a:r>
          </a:p>
        </p:txBody>
      </p:sp>
      <p:sp>
        <p:nvSpPr>
          <p:cNvPr id="18" name="Text 15"/>
          <p:cNvSpPr/>
          <p:nvPr/>
        </p:nvSpPr>
        <p:spPr>
          <a:xfrm>
            <a:off x="812767" y="6238295"/>
            <a:ext cx="784860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Cyber k</a:t>
            </a:r>
            <a:r>
              <a:rPr lang="en-IN" sz="1200" dirty="0">
                <a:solidFill>
                  <a:srgbClr val="6A6888"/>
                </a:solidFill>
                <a:latin typeface="Arial" panose="020B0604020202020204" pitchFamily="34" charset="0"/>
                <a:ea typeface="Arial" panose="020B0604020202020204" pitchFamily="34" charset="-122"/>
                <a:cs typeface="Arial" panose="020B0604020202020204" pitchFamily="34" charset="-120"/>
              </a:rPr>
              <a:t>n</a:t>
            </a:r>
            <a:r>
              <a:rPr lang="en-US" sz="1200" dirty="0" err="1">
                <a:solidFill>
                  <a:srgbClr val="6A6888"/>
                </a:solidFill>
                <a:latin typeface="Arial" panose="020B0604020202020204" pitchFamily="34" charset="0"/>
                <a:ea typeface="Arial" panose="020B0604020202020204" pitchFamily="34" charset="-122"/>
                <a:cs typeface="Arial" panose="020B0604020202020204" pitchFamily="34" charset="-120"/>
              </a:rPr>
              <a:t>ight</a:t>
            </a: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 JJCET AI-PDLC Hackathon</a:t>
            </a:r>
            <a:endParaRPr lang="en-US" sz="1200" dirty="0"/>
          </a:p>
        </p:txBody>
      </p:sp>
      <p:sp>
        <p:nvSpPr>
          <p:cNvPr id="19" name="Text 16"/>
          <p:cNvSpPr/>
          <p:nvPr/>
        </p:nvSpPr>
        <p:spPr>
          <a:xfrm>
            <a:off x="10058433" y="6238295"/>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821E"/>
        </a:solidFill>
        <a:effectLst/>
      </p:bgPr>
    </p:bg>
    <p:spTree>
      <p:nvGrpSpPr>
        <p:cNvPr id="1" name=""/>
        <p:cNvGrpSpPr/>
        <p:nvPr/>
      </p:nvGrpSpPr>
      <p:grpSpPr>
        <a:xfrm>
          <a:off x="0" y="0"/>
          <a:ext cx="0" cy="0"/>
          <a:chOff x="0" y="0"/>
          <a:chExt cx="0" cy="0"/>
        </a:xfrm>
      </p:grpSpPr>
      <p:sp>
        <p:nvSpPr>
          <p:cNvPr id="2" name="Text 0"/>
          <p:cNvSpPr/>
          <p:nvPr/>
        </p:nvSpPr>
        <p:spPr>
          <a:xfrm>
            <a:off x="812767" y="1465665"/>
            <a:ext cx="10883460"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17154A"/>
                </a:solidFill>
                <a:latin typeface="Arial" panose="020B0604020202020204" pitchFamily="34" charset="0"/>
                <a:ea typeface="Arial" panose="020B0604020202020204" pitchFamily="34" charset="-122"/>
                <a:cs typeface="Arial" panose="020B0604020202020204" pitchFamily="34" charset="-120"/>
              </a:rPr>
              <a:t>WHAT OUR MRD TAUGHT US</a:t>
            </a:r>
            <a:endParaRPr lang="en-US" sz="1200" dirty="0"/>
          </a:p>
        </p:txBody>
      </p:sp>
      <p:sp>
        <p:nvSpPr>
          <p:cNvPr id="3" name="Text 1"/>
          <p:cNvSpPr>
            <a:spLocks noGrp="1"/>
          </p:cNvSpPr>
          <p:nvPr>
            <p:ph type="title"/>
          </p:nvPr>
        </p:nvSpPr>
        <p:spPr>
          <a:xfrm>
            <a:off x="813435" y="1902460"/>
            <a:ext cx="10881995" cy="1280795"/>
          </a:xfrm>
          <a:prstGeom prst="rect">
            <a:avLst/>
          </a:prstGeom>
          <a:noFill/>
        </p:spPr>
        <p:txBody>
          <a:bodyPr wrap="square" lIns="0" tIns="0" rIns="0" bIns="0" rtlCol="0" anchor="t">
            <a:normAutofit fontScale="90000"/>
          </a:bodyPr>
          <a:lstStyle/>
          <a:p>
            <a:pPr marL="0" indent="0" algn="l">
              <a:lnSpc>
                <a:spcPts val="4400"/>
              </a:lnSpc>
              <a:buNone/>
            </a:pPr>
            <a:r>
              <a:rPr lang="en-US" sz="4000" b="1" i="0" dirty="0">
                <a:solidFill>
                  <a:srgbClr val="17154A"/>
                </a:solidFill>
                <a:latin typeface="Arial" panose="020B0604020202020204" pitchFamily="34" charset="0"/>
                <a:ea typeface="Arial" panose="020B0604020202020204" pitchFamily="34" charset="-122"/>
                <a:cs typeface="Arial" panose="020B0604020202020204" pitchFamily="34" charset="-120"/>
              </a:rPr>
              <a:t>“</a:t>
            </a:r>
            <a:r>
              <a:rPr lang="en-US" altLang="en-US" sz="4000" b="1" i="0" dirty="0">
                <a:solidFill>
                  <a:srgbClr val="17154A"/>
                </a:solidFill>
                <a:latin typeface="Arial" panose="020B0604020202020204" pitchFamily="34" charset="0"/>
                <a:ea typeface="Arial" panose="020B0604020202020204" pitchFamily="34" charset="-122"/>
                <a:cs typeface="Arial" panose="020B0604020202020204" pitchFamily="34" charset="-120"/>
              </a:rPr>
              <a:t>Finding alternative routes is not enough; users need help deciding which route is most suitable as traffic conditions change.</a:t>
            </a:r>
            <a:r>
              <a:rPr lang="en-US" sz="4000" b="1" i="0" dirty="0">
                <a:solidFill>
                  <a:srgbClr val="17154A"/>
                </a:solidFill>
                <a:latin typeface="Arial" panose="020B0604020202020204" pitchFamily="34" charset="0"/>
                <a:ea typeface="Arial" panose="020B0604020202020204" pitchFamily="34" charset="-122"/>
                <a:cs typeface="Arial" panose="020B0604020202020204" pitchFamily="34" charset="-120"/>
              </a:rPr>
              <a:t>”</a:t>
            </a:r>
            <a:endParaRPr lang="en-US" sz="4000" dirty="0"/>
          </a:p>
        </p:txBody>
      </p:sp>
      <p:sp>
        <p:nvSpPr>
          <p:cNvPr id="4" name="Shape 2"/>
          <p:cNvSpPr/>
          <p:nvPr/>
        </p:nvSpPr>
        <p:spPr>
          <a:xfrm>
            <a:off x="800735" y="3853180"/>
            <a:ext cx="5186680" cy="1709420"/>
          </a:xfrm>
          <a:prstGeom prst="roundRect">
            <a:avLst>
              <a:gd name="adj" fmla="val 16133"/>
            </a:avLst>
          </a:prstGeom>
          <a:solidFill>
            <a:srgbClr val="17154A"/>
          </a:solidFill>
        </p:spPr>
        <p:txBody>
          <a:bodyPr/>
          <a:lstStyle/>
          <a:p>
            <a:endParaRPr lang="en-IN"/>
          </a:p>
        </p:txBody>
      </p:sp>
      <p:sp>
        <p:nvSpPr>
          <p:cNvPr id="5" name="Text 3"/>
          <p:cNvSpPr/>
          <p:nvPr/>
        </p:nvSpPr>
        <p:spPr>
          <a:xfrm>
            <a:off x="990534" y="4005543"/>
            <a:ext cx="4997010"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8821E"/>
                </a:solidFill>
                <a:latin typeface="Arial" panose="020B0604020202020204" pitchFamily="34" charset="0"/>
                <a:ea typeface="Arial" panose="020B0604020202020204" pitchFamily="34" charset="-122"/>
                <a:cs typeface="Arial" panose="020B0604020202020204" pitchFamily="34" charset="-120"/>
              </a:rPr>
              <a:t>Evidence</a:t>
            </a:r>
            <a:endParaRPr lang="en-US" sz="1200" dirty="0"/>
          </a:p>
        </p:txBody>
      </p:sp>
      <p:sp>
        <p:nvSpPr>
          <p:cNvPr id="6" name="Text 4"/>
          <p:cNvSpPr/>
          <p:nvPr/>
        </p:nvSpPr>
        <p:spPr>
          <a:xfrm>
            <a:off x="990600" y="4257040"/>
            <a:ext cx="4739005" cy="1516380"/>
          </a:xfrm>
          <a:prstGeom prst="rect">
            <a:avLst/>
          </a:prstGeom>
          <a:noFill/>
        </p:spPr>
        <p:txBody>
          <a:bodyPr wrap="square" lIns="0" tIns="0" rIns="0" bIns="0" rtlCol="0" anchor="t">
            <a:normAutofit/>
          </a:bodyPr>
          <a:lstStyle/>
          <a:p>
            <a:pPr marL="0" indent="0" algn="l">
              <a:lnSpc>
                <a:spcPts val="1820"/>
              </a:lnSpc>
              <a:buNone/>
            </a:pPr>
            <a:r>
              <a:rPr lang="en-US" altLang="en-US" sz="1300" dirty="0">
                <a:solidFill>
                  <a:srgbClr val="FBF8F2"/>
                </a:solidFill>
                <a:latin typeface="Arial" panose="020B0604020202020204" pitchFamily="34" charset="0"/>
                <a:ea typeface="Arial" panose="020B0604020202020204" pitchFamily="34" charset="-122"/>
                <a:cs typeface="Arial" panose="020B0604020202020204" pitchFamily="34" charset="-120"/>
              </a:rPr>
              <a:t>Existing navigation platforms, including Google Maps and TomTom, offer routing and traffic-related features. This establishes that route comparison is feasible, but does not prove our prediction model will outperform them.</a:t>
            </a:r>
          </a:p>
        </p:txBody>
      </p:sp>
      <p:sp>
        <p:nvSpPr>
          <p:cNvPr id="7" name="Shape 5"/>
          <p:cNvSpPr/>
          <p:nvPr/>
        </p:nvSpPr>
        <p:spPr>
          <a:xfrm>
            <a:off x="6139815" y="3853180"/>
            <a:ext cx="5218430" cy="1713865"/>
          </a:xfrm>
          <a:prstGeom prst="roundRect">
            <a:avLst>
              <a:gd name="adj" fmla="val 16133"/>
            </a:avLst>
          </a:prstGeom>
          <a:solidFill>
            <a:srgbClr val="17154A"/>
          </a:solidFill>
        </p:spPr>
        <p:txBody>
          <a:bodyPr/>
          <a:lstStyle/>
          <a:p>
            <a:endParaRPr lang="en-IN"/>
          </a:p>
        </p:txBody>
      </p:sp>
      <p:sp>
        <p:nvSpPr>
          <p:cNvPr id="8" name="Text 6"/>
          <p:cNvSpPr/>
          <p:nvPr/>
        </p:nvSpPr>
        <p:spPr>
          <a:xfrm>
            <a:off x="6349917" y="4005543"/>
            <a:ext cx="4997095" cy="238720"/>
          </a:xfrm>
          <a:prstGeom prst="rect">
            <a:avLst/>
          </a:prstGeom>
          <a:noFill/>
        </p:spPr>
        <p:txBody>
          <a:bodyPr wrap="square" lIns="0" tIns="0" rIns="0" bIns="0" rtlCol="0" anchor="t">
            <a:normAutofit/>
          </a:bodyPr>
          <a:lstStyle/>
          <a:p>
            <a:pPr marL="0" indent="0" algn="l">
              <a:lnSpc>
                <a:spcPts val="1680"/>
              </a:lnSpc>
              <a:buNone/>
            </a:pPr>
            <a:r>
              <a:rPr lang="en-US" sz="1200" b="1" dirty="0">
                <a:solidFill>
                  <a:srgbClr val="F8821E"/>
                </a:solidFill>
                <a:latin typeface="Arial" panose="020B0604020202020204" pitchFamily="34" charset="0"/>
                <a:ea typeface="Arial" panose="020B0604020202020204" pitchFamily="34" charset="-122"/>
                <a:cs typeface="Arial" panose="020B0604020202020204" pitchFamily="34" charset="-120"/>
              </a:rPr>
              <a:t>Assumption</a:t>
            </a:r>
            <a:endParaRPr lang="en-US" sz="1200" dirty="0"/>
          </a:p>
        </p:txBody>
      </p:sp>
      <p:sp>
        <p:nvSpPr>
          <p:cNvPr id="9" name="Text 7"/>
          <p:cNvSpPr/>
          <p:nvPr/>
        </p:nvSpPr>
        <p:spPr>
          <a:xfrm>
            <a:off x="6350000" y="4257040"/>
            <a:ext cx="4739005" cy="1280160"/>
          </a:xfrm>
          <a:prstGeom prst="rect">
            <a:avLst/>
          </a:prstGeom>
          <a:noFill/>
        </p:spPr>
        <p:txBody>
          <a:bodyPr wrap="square" lIns="0" tIns="0" rIns="0" bIns="0" rtlCol="0" anchor="t">
            <a:normAutofit/>
          </a:bodyPr>
          <a:lstStyle/>
          <a:p>
            <a:pPr marL="0" indent="0" algn="l">
              <a:lnSpc>
                <a:spcPts val="1820"/>
              </a:lnSpc>
              <a:buNone/>
            </a:pPr>
            <a:r>
              <a:rPr lang="en-US" altLang="en-US" sz="1300" dirty="0">
                <a:solidFill>
                  <a:srgbClr val="FBF8F2"/>
                </a:solidFill>
                <a:latin typeface="Arial" panose="020B0604020202020204" pitchFamily="34" charset="0"/>
                <a:ea typeface="Arial" panose="020B0604020202020204" pitchFamily="34" charset="-122"/>
                <a:cs typeface="Arial" panose="020B0604020202020204" pitchFamily="34" charset="-120"/>
              </a:rPr>
              <a:t>Developers may value a simple API that combines alternative-route data, traffic analysis, delay predictions, and customizable route ranking in one response. We still need to validate this with potential users.</a:t>
            </a:r>
          </a:p>
        </p:txBody>
      </p:sp>
      <p:sp>
        <p:nvSpPr>
          <p:cNvPr id="10" name="Text 8"/>
          <p:cNvSpPr/>
          <p:nvPr/>
        </p:nvSpPr>
        <p:spPr>
          <a:xfrm>
            <a:off x="812767" y="6238295"/>
            <a:ext cx="784860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2B1A08"/>
                </a:solidFill>
                <a:latin typeface="Arial" panose="020B0604020202020204" pitchFamily="34" charset="0"/>
                <a:ea typeface="Arial" panose="020B0604020202020204" pitchFamily="34" charset="-122"/>
                <a:cs typeface="Arial" panose="020B0604020202020204" pitchFamily="34" charset="-120"/>
              </a:rPr>
              <a:t>Cyber knight · JJCET AI-PDLC Hackathon</a:t>
            </a:r>
            <a:endParaRPr lang="en-US" sz="1200" dirty="0"/>
          </a:p>
        </p:txBody>
      </p:sp>
      <p:sp>
        <p:nvSpPr>
          <p:cNvPr id="11" name="Text 9"/>
          <p:cNvSpPr/>
          <p:nvPr/>
        </p:nvSpPr>
        <p:spPr>
          <a:xfrm>
            <a:off x="10058433" y="6238295"/>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2B1A08"/>
                </a:solidFill>
                <a:latin typeface="Arial" panose="020B0604020202020204" pitchFamily="34" charset="0"/>
                <a:ea typeface="Arial" panose="020B0604020202020204" pitchFamily="34" charset="-122"/>
                <a:cs typeface="Arial" panose="020B0604020202020204"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anose="020B0604020202020204" pitchFamily="34" charset="0"/>
                <a:ea typeface="Arial" panose="020B0604020202020204" pitchFamily="34" charset="-122"/>
                <a:cs typeface="Arial" panose="020B0604020202020204" pitchFamily="34" charset="-120"/>
              </a:rPr>
              <a:t>PRODUCT DECISIONS</a:t>
            </a:r>
            <a:endParaRPr lang="en-US" sz="1200" dirty="0"/>
          </a:p>
        </p:txBody>
      </p:sp>
      <p:sp>
        <p:nvSpPr>
          <p:cNvPr id="3" name="Text 1"/>
          <p:cNvSpPr>
            <a:spLocks noGrp="1"/>
          </p:cNvSpPr>
          <p:nvPr>
            <p:ph type="title"/>
          </p:nvPr>
        </p:nvSpPr>
        <p:spPr>
          <a:xfrm>
            <a:off x="812767" y="1102237"/>
            <a:ext cx="10883460" cy="452041"/>
          </a:xfrm>
          <a:prstGeom prst="rect">
            <a:avLst/>
          </a:prstGeom>
          <a:noFill/>
        </p:spPr>
        <p:txBody>
          <a:bodyPr wrap="square" lIns="0" tIns="0" rIns="0" bIns="0" rtlCol="0" anchor="t">
            <a:normAutofit/>
          </a:bodyPr>
          <a:lstStyle/>
          <a:p>
            <a:pPr marL="0" indent="0" algn="l">
              <a:lnSpc>
                <a:spcPts val="3360"/>
              </a:lnSpc>
              <a:buNone/>
            </a:pPr>
            <a:r>
              <a:rPr lang="en-US" sz="3200" b="1" i="0" dirty="0">
                <a:solidFill>
                  <a:srgbClr val="17154A"/>
                </a:solidFill>
                <a:latin typeface="Arial" panose="020B0604020202020204" pitchFamily="34" charset="0"/>
                <a:ea typeface="Arial" panose="020B0604020202020204" pitchFamily="34" charset="-122"/>
                <a:cs typeface="Arial" panose="020B0604020202020204" pitchFamily="34" charset="-120"/>
              </a:rPr>
              <a:t>What we built, and what we cut</a:t>
            </a:r>
            <a:endParaRPr lang="en-US" sz="3200" dirty="0"/>
          </a:p>
        </p:txBody>
      </p:sp>
      <p:sp>
        <p:nvSpPr>
          <p:cNvPr id="4" name="Shape 2"/>
          <p:cNvSpPr/>
          <p:nvPr/>
        </p:nvSpPr>
        <p:spPr>
          <a:xfrm>
            <a:off x="812800" y="1815465"/>
            <a:ext cx="5175885" cy="2604770"/>
          </a:xfrm>
          <a:prstGeom prst="roundRect">
            <a:avLst>
              <a:gd name="adj" fmla="val 8555"/>
            </a:avLst>
          </a:prstGeom>
          <a:solidFill>
            <a:srgbClr val="312F92"/>
          </a:solidFill>
        </p:spPr>
        <p:txBody>
          <a:bodyPr/>
          <a:lstStyle/>
          <a:p>
            <a:endParaRPr lang="en-IN"/>
          </a:p>
        </p:txBody>
      </p:sp>
      <p:sp>
        <p:nvSpPr>
          <p:cNvPr id="5" name="Text 3"/>
          <p:cNvSpPr/>
          <p:nvPr/>
        </p:nvSpPr>
        <p:spPr>
          <a:xfrm>
            <a:off x="1041301" y="2011412"/>
            <a:ext cx="4855384" cy="256497"/>
          </a:xfrm>
          <a:prstGeom prst="rect">
            <a:avLst/>
          </a:prstGeom>
          <a:noFill/>
        </p:spPr>
        <p:txBody>
          <a:bodyPr wrap="square" lIns="0" tIns="0" rIns="0" bIns="0" rtlCol="0" anchor="t">
            <a:normAutofit/>
          </a:bodyPr>
          <a:lstStyle/>
          <a:p>
            <a:pPr marL="0" indent="0" algn="l">
              <a:lnSpc>
                <a:spcPts val="1820"/>
              </a:lnSpc>
              <a:buNone/>
            </a:pPr>
            <a:r>
              <a:rPr lang="en-US" sz="1300" b="1" kern="0" spc="100" dirty="0">
                <a:solidFill>
                  <a:srgbClr val="FFB066"/>
                </a:solidFill>
                <a:latin typeface="Arial" panose="020B0604020202020204" pitchFamily="34" charset="0"/>
                <a:ea typeface="Arial" panose="020B0604020202020204" pitchFamily="34" charset="-122"/>
                <a:cs typeface="Arial" panose="020B0604020202020204" pitchFamily="34" charset="-120"/>
              </a:rPr>
              <a:t>MUST-HAVE · BUILT</a:t>
            </a:r>
            <a:endParaRPr lang="en-US" sz="1300" dirty="0"/>
          </a:p>
        </p:txBody>
      </p:sp>
      <p:pic>
        <p:nvPicPr>
          <p:cNvPr id="6" name="Image 0" descr="CheckCircle"/>
          <p:cNvPicPr>
            <a:picLocks noChangeAspect="1"/>
          </p:cNvPicPr>
          <p:nvPr/>
        </p:nvPicPr>
        <p:blipFill>
          <a:blip r:embed="rId3"/>
          <a:srcRect/>
          <a:stretch>
            <a:fillRect/>
          </a:stretch>
        </p:blipFill>
        <p:spPr>
          <a:xfrm>
            <a:off x="1041301" y="2356776"/>
            <a:ext cx="228534" cy="228534"/>
          </a:xfrm>
          <a:prstGeom prst="rect">
            <a:avLst/>
          </a:prstGeom>
        </p:spPr>
      </p:pic>
      <p:sp>
        <p:nvSpPr>
          <p:cNvPr id="7" name="Text 4"/>
          <p:cNvSpPr/>
          <p:nvPr/>
        </p:nvSpPr>
        <p:spPr>
          <a:xfrm>
            <a:off x="1371368" y="2356776"/>
            <a:ext cx="4515414" cy="265344"/>
          </a:xfrm>
          <a:prstGeom prst="rect">
            <a:avLst/>
          </a:prstGeom>
          <a:noFill/>
        </p:spPr>
        <p:txBody>
          <a:bodyPr wrap="square" lIns="0" tIns="0" rIns="0" bIns="0" rtlCol="0" anchor="t">
            <a:normAutofit/>
          </a:bodyPr>
          <a:lstStyle/>
          <a:p>
            <a:pPr marL="0" indent="0" algn="l">
              <a:lnSpc>
                <a:spcPts val="1890"/>
              </a:lnSpc>
              <a:buNone/>
            </a:pPr>
            <a:r>
              <a:rPr lang="en-US" sz="1400" dirty="0">
                <a:solidFill>
                  <a:srgbClr val="FBF8F2"/>
                </a:solidFill>
                <a:latin typeface="Arial" panose="020B0604020202020204" pitchFamily="34" charset="0"/>
                <a:ea typeface="Arial" panose="020B0604020202020204" pitchFamily="34" charset="-122"/>
                <a:cs typeface="Arial" panose="020B0604020202020204" pitchFamily="34" charset="-120"/>
              </a:rPr>
              <a:t>Traffic and alternative-route integration</a:t>
            </a:r>
            <a:endParaRPr lang="en-US" sz="1400" dirty="0"/>
          </a:p>
        </p:txBody>
      </p:sp>
      <p:pic>
        <p:nvPicPr>
          <p:cNvPr id="8" name="Image 1" descr="CheckCircle"/>
          <p:cNvPicPr>
            <a:picLocks noChangeAspect="1"/>
          </p:cNvPicPr>
          <p:nvPr/>
        </p:nvPicPr>
        <p:blipFill>
          <a:blip r:embed="rId3"/>
          <a:srcRect/>
          <a:stretch>
            <a:fillRect/>
          </a:stretch>
        </p:blipFill>
        <p:spPr>
          <a:xfrm>
            <a:off x="1041301" y="2710986"/>
            <a:ext cx="228534" cy="228534"/>
          </a:xfrm>
          <a:prstGeom prst="rect">
            <a:avLst/>
          </a:prstGeom>
        </p:spPr>
      </p:pic>
      <p:sp>
        <p:nvSpPr>
          <p:cNvPr id="9" name="Text 5"/>
          <p:cNvSpPr/>
          <p:nvPr/>
        </p:nvSpPr>
        <p:spPr>
          <a:xfrm>
            <a:off x="1371368" y="2710986"/>
            <a:ext cx="4515414" cy="265344"/>
          </a:xfrm>
          <a:prstGeom prst="rect">
            <a:avLst/>
          </a:prstGeom>
          <a:noFill/>
        </p:spPr>
        <p:txBody>
          <a:bodyPr wrap="square" lIns="0" tIns="0" rIns="0" bIns="0" rtlCol="0" anchor="t">
            <a:normAutofit/>
          </a:bodyPr>
          <a:lstStyle/>
          <a:p>
            <a:pPr marL="0" indent="0" algn="l">
              <a:lnSpc>
                <a:spcPts val="1890"/>
              </a:lnSpc>
              <a:buNone/>
            </a:pPr>
            <a:r>
              <a:rPr lang="en-US" sz="1400" dirty="0">
                <a:solidFill>
                  <a:srgbClr val="FBF8F2"/>
                </a:solidFill>
                <a:latin typeface="Arial" panose="020B0604020202020204" pitchFamily="34" charset="0"/>
                <a:ea typeface="Arial" panose="020B0604020202020204" pitchFamily="34" charset="-122"/>
                <a:cs typeface="Arial" panose="020B0604020202020204" pitchFamily="34" charset="-120"/>
              </a:rPr>
              <a:t>Traffic prediction and route ranking</a:t>
            </a:r>
            <a:endParaRPr lang="en-US" sz="1400" dirty="0"/>
          </a:p>
        </p:txBody>
      </p:sp>
      <p:pic>
        <p:nvPicPr>
          <p:cNvPr id="10" name="Image 2" descr="CheckCircle"/>
          <p:cNvPicPr>
            <a:picLocks noChangeAspect="1"/>
          </p:cNvPicPr>
          <p:nvPr/>
        </p:nvPicPr>
        <p:blipFill>
          <a:blip r:embed="rId3"/>
          <a:srcRect/>
          <a:stretch>
            <a:fillRect/>
          </a:stretch>
        </p:blipFill>
        <p:spPr>
          <a:xfrm>
            <a:off x="1041301" y="3065197"/>
            <a:ext cx="228534" cy="228534"/>
          </a:xfrm>
          <a:prstGeom prst="rect">
            <a:avLst/>
          </a:prstGeom>
        </p:spPr>
      </p:pic>
      <p:sp>
        <p:nvSpPr>
          <p:cNvPr id="11" name="Text 6"/>
          <p:cNvSpPr/>
          <p:nvPr/>
        </p:nvSpPr>
        <p:spPr>
          <a:xfrm>
            <a:off x="1473603" y="2987092"/>
            <a:ext cx="4515414" cy="265344"/>
          </a:xfrm>
          <a:prstGeom prst="rect">
            <a:avLst/>
          </a:prstGeom>
          <a:noFill/>
        </p:spPr>
        <p:txBody>
          <a:bodyPr wrap="square" lIns="0" tIns="0" rIns="0" bIns="0" rtlCol="0" anchor="t">
            <a:normAutofit/>
          </a:bodyPr>
          <a:lstStyle/>
          <a:p>
            <a:pPr marL="0" indent="0" algn="l">
              <a:lnSpc>
                <a:spcPts val="1890"/>
              </a:lnSpc>
              <a:buNone/>
            </a:pPr>
            <a:r>
              <a:rPr lang="en-US" sz="1400" dirty="0">
                <a:solidFill>
                  <a:srgbClr val="FBF8F2"/>
                </a:solidFill>
                <a:latin typeface="Arial" panose="020B0604020202020204" pitchFamily="34" charset="0"/>
                <a:ea typeface="Arial" panose="020B0604020202020204" pitchFamily="34" charset="-122"/>
                <a:cs typeface="Arial" panose="020B0604020202020204" pitchFamily="34" charset="-120"/>
              </a:rPr>
              <a:t>Colour coded map and developer API</a:t>
            </a:r>
            <a:endParaRPr lang="en-US" sz="1400" dirty="0"/>
          </a:p>
        </p:txBody>
      </p:sp>
      <p:sp>
        <p:nvSpPr>
          <p:cNvPr id="12" name="Text 7"/>
          <p:cNvSpPr/>
          <p:nvPr/>
        </p:nvSpPr>
        <p:spPr>
          <a:xfrm>
            <a:off x="1041400" y="3419475"/>
            <a:ext cx="4039235" cy="424815"/>
          </a:xfrm>
          <a:prstGeom prst="rect">
            <a:avLst/>
          </a:prstGeom>
          <a:noFill/>
        </p:spPr>
        <p:txBody>
          <a:bodyPr wrap="square" lIns="0" tIns="0" rIns="0" bIns="0" rtlCol="0" anchor="t">
            <a:normAutofit fontScale="25000"/>
          </a:bodyPr>
          <a:lstStyle/>
          <a:p>
            <a:pPr marL="0" indent="0" algn="l">
              <a:lnSpc>
                <a:spcPts val="1680"/>
              </a:lnSpc>
              <a:buNone/>
            </a:pPr>
            <a:r>
              <a:rPr lang="en-US" sz="4000" dirty="0">
                <a:solidFill>
                  <a:srgbClr val="D6D3F0"/>
                </a:solidFill>
                <a:latin typeface="Arial" panose="020B0604020202020204" pitchFamily="34" charset="0"/>
                <a:ea typeface="Arial" panose="020B0604020202020204" pitchFamily="34" charset="-122"/>
                <a:cs typeface="Arial" panose="020B0604020202020204" pitchFamily="34" charset="-120"/>
              </a:rPr>
              <a:t>Success metric: </a:t>
            </a:r>
            <a:r>
              <a:rPr lang="en-US" altLang="en-US" sz="4000" dirty="0">
                <a:solidFill>
                  <a:srgbClr val="D6D3F0"/>
                </a:solidFill>
                <a:latin typeface="Arial" panose="020B0604020202020204" pitchFamily="34" charset="0"/>
                <a:ea typeface="Arial" panose="020B0604020202020204" pitchFamily="34" charset="-122"/>
                <a:cs typeface="Arial" panose="020B0604020202020204" pitchFamily="34" charset="-120"/>
              </a:rPr>
              <a:t>Measure the percentage of test journeys where the recommended route has a lower actual travel time than the provider's default route, and measure prediction error against observed travel times.</a:t>
            </a:r>
          </a:p>
        </p:txBody>
      </p:sp>
      <p:sp>
        <p:nvSpPr>
          <p:cNvPr id="13" name="Shape 8"/>
          <p:cNvSpPr/>
          <p:nvPr/>
        </p:nvSpPr>
        <p:spPr>
          <a:xfrm>
            <a:off x="6193155" y="1815465"/>
            <a:ext cx="5179695" cy="2613025"/>
          </a:xfrm>
          <a:prstGeom prst="roundRect">
            <a:avLst>
              <a:gd name="adj" fmla="val 8300"/>
            </a:avLst>
          </a:prstGeom>
          <a:solidFill>
            <a:srgbClr val="FFFDF9"/>
          </a:solidFill>
          <a:ln w="12700">
            <a:solidFill>
              <a:srgbClr val="E3E0F2"/>
            </a:solidFill>
            <a:prstDash val="solid"/>
          </a:ln>
        </p:spPr>
        <p:txBody>
          <a:bodyPr/>
          <a:lstStyle/>
          <a:p>
            <a:endParaRPr lang="en-IN"/>
          </a:p>
        </p:txBody>
      </p:sp>
      <p:sp>
        <p:nvSpPr>
          <p:cNvPr id="14" name="Text 9"/>
          <p:cNvSpPr/>
          <p:nvPr/>
        </p:nvSpPr>
        <p:spPr>
          <a:xfrm>
            <a:off x="6426067" y="2021994"/>
            <a:ext cx="4855469" cy="256497"/>
          </a:xfrm>
          <a:prstGeom prst="rect">
            <a:avLst/>
          </a:prstGeom>
          <a:noFill/>
        </p:spPr>
        <p:txBody>
          <a:bodyPr wrap="square" lIns="0" tIns="0" rIns="0" bIns="0" rtlCol="0" anchor="t">
            <a:normAutofit/>
          </a:bodyPr>
          <a:lstStyle/>
          <a:p>
            <a:pPr marL="0" indent="0" algn="l">
              <a:lnSpc>
                <a:spcPts val="1820"/>
              </a:lnSpc>
              <a:buNone/>
            </a:pPr>
            <a:r>
              <a:rPr lang="en-US" sz="1300" b="1" kern="0" spc="100" dirty="0">
                <a:solidFill>
                  <a:srgbClr val="8A3E05"/>
                </a:solidFill>
                <a:latin typeface="Arial" panose="020B0604020202020204" pitchFamily="34" charset="0"/>
                <a:ea typeface="Arial" panose="020B0604020202020204" pitchFamily="34" charset="-122"/>
                <a:cs typeface="Arial" panose="020B0604020202020204" pitchFamily="34" charset="-120"/>
              </a:rPr>
              <a:t>CUT ON PURPOSE</a:t>
            </a:r>
            <a:endParaRPr lang="en-US" sz="1300" dirty="0"/>
          </a:p>
        </p:txBody>
      </p:sp>
      <p:sp>
        <p:nvSpPr>
          <p:cNvPr id="15" name="Text 10"/>
          <p:cNvSpPr/>
          <p:nvPr/>
        </p:nvSpPr>
        <p:spPr>
          <a:xfrm>
            <a:off x="6426067" y="2367359"/>
            <a:ext cx="4855469" cy="265344"/>
          </a:xfrm>
          <a:prstGeom prst="rect">
            <a:avLst/>
          </a:prstGeom>
          <a:noFill/>
        </p:spPr>
        <p:txBody>
          <a:bodyPr wrap="square" lIns="0" tIns="0" rIns="0" bIns="0" rtlCol="0" anchor="t">
            <a:normAutofit/>
          </a:bodyPr>
          <a:lstStyle/>
          <a:p>
            <a:pPr marL="0" indent="0" algn="l">
              <a:lnSpc>
                <a:spcPts val="1890"/>
              </a:lnSpc>
              <a:buNone/>
            </a:pPr>
            <a:r>
              <a:rPr lang="en-US" sz="1400" dirty="0">
                <a:solidFill>
                  <a:srgbClr val="17154A"/>
                </a:solidFill>
                <a:latin typeface="Arial" panose="020B0604020202020204" pitchFamily="34" charset="0"/>
                <a:ea typeface="Arial" panose="020B0604020202020204" pitchFamily="34" charset="-122"/>
                <a:cs typeface="Arial" panose="020B0604020202020204" pitchFamily="34" charset="-120"/>
              </a:rPr>
              <a:t>Login and registration-not needed now</a:t>
            </a:r>
            <a:endParaRPr lang="en-US" sz="1400" dirty="0"/>
          </a:p>
        </p:txBody>
      </p:sp>
      <p:sp>
        <p:nvSpPr>
          <p:cNvPr id="16" name="Text 11"/>
          <p:cNvSpPr/>
          <p:nvPr/>
        </p:nvSpPr>
        <p:spPr>
          <a:xfrm>
            <a:off x="6426200" y="2721610"/>
            <a:ext cx="4861560" cy="471170"/>
          </a:xfrm>
          <a:prstGeom prst="rect">
            <a:avLst/>
          </a:prstGeom>
          <a:noFill/>
        </p:spPr>
        <p:txBody>
          <a:bodyPr wrap="square" lIns="0" tIns="0" rIns="0" bIns="0" rtlCol="0" anchor="t">
            <a:noAutofit/>
          </a:bodyPr>
          <a:lstStyle/>
          <a:p>
            <a:pPr marL="0" indent="0" algn="l">
              <a:lnSpc>
                <a:spcPts val="1890"/>
              </a:lnSpc>
              <a:buNone/>
            </a:pPr>
            <a:r>
              <a:rPr lang="en-US" sz="1200" dirty="0">
                <a:solidFill>
                  <a:srgbClr val="17154A"/>
                </a:solidFill>
                <a:latin typeface="Arial" panose="020B0604020202020204" pitchFamily="34" charset="0"/>
                <a:ea typeface="Arial" panose="020B0604020202020204" pitchFamily="34" charset="-122"/>
                <a:cs typeface="Arial" panose="020B0604020202020204" pitchFamily="34" charset="-120"/>
              </a:rPr>
              <a:t>Database and user management — use simple local configuration and browse storage for the demo</a:t>
            </a:r>
          </a:p>
        </p:txBody>
      </p:sp>
      <p:sp>
        <p:nvSpPr>
          <p:cNvPr id="17" name="Text 12"/>
          <p:cNvSpPr/>
          <p:nvPr/>
        </p:nvSpPr>
        <p:spPr>
          <a:xfrm>
            <a:off x="6400800" y="3281045"/>
            <a:ext cx="4880610" cy="436245"/>
          </a:xfrm>
          <a:prstGeom prst="rect">
            <a:avLst/>
          </a:prstGeom>
          <a:noFill/>
        </p:spPr>
        <p:txBody>
          <a:bodyPr wrap="square" lIns="0" tIns="0" rIns="0" bIns="0" rtlCol="0" anchor="t"/>
          <a:lstStyle/>
          <a:p>
            <a:pPr marL="0" indent="0" algn="l">
              <a:lnSpc>
                <a:spcPts val="1890"/>
              </a:lnSpc>
              <a:buNone/>
            </a:pPr>
            <a:r>
              <a:rPr lang="en-US" sz="1200" dirty="0"/>
              <a:t>Live GPS tracking and vehicle monitoring-</a:t>
            </a:r>
            <a:r>
              <a:rPr lang="en-US" altLang="en-US" sz="1200" dirty="0"/>
              <a:t>outside our scope ; we focus on route recommendations and periodic traffic updates</a:t>
            </a:r>
          </a:p>
        </p:txBody>
      </p:sp>
      <p:sp>
        <p:nvSpPr>
          <p:cNvPr id="18" name="Text 13"/>
          <p:cNvSpPr/>
          <p:nvPr/>
        </p:nvSpPr>
        <p:spPr>
          <a:xfrm>
            <a:off x="812767" y="6238295"/>
            <a:ext cx="784860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Cyber </a:t>
            </a:r>
            <a:r>
              <a:rPr lang="en-IN" sz="1200" dirty="0">
                <a:solidFill>
                  <a:srgbClr val="6A6888"/>
                </a:solidFill>
                <a:latin typeface="Arial" panose="020B0604020202020204" pitchFamily="34" charset="0"/>
                <a:ea typeface="Arial" panose="020B0604020202020204" pitchFamily="34" charset="-122"/>
                <a:cs typeface="Arial" panose="020B0604020202020204" pitchFamily="34" charset="-120"/>
              </a:rPr>
              <a:t>knight</a:t>
            </a: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 · JJCET AI-PDLC Hackathon</a:t>
            </a:r>
            <a:endParaRPr lang="en-US" sz="1200" dirty="0"/>
          </a:p>
        </p:txBody>
      </p:sp>
      <p:sp>
        <p:nvSpPr>
          <p:cNvPr id="19" name="Text 14"/>
          <p:cNvSpPr/>
          <p:nvPr/>
        </p:nvSpPr>
        <p:spPr>
          <a:xfrm>
            <a:off x="10058433" y="6238295"/>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7154A"/>
        </a:solidFill>
        <a:effectLst/>
      </p:bgPr>
    </p:bg>
    <p:spTree>
      <p:nvGrpSpPr>
        <p:cNvPr id="1" name=""/>
        <p:cNvGrpSpPr/>
        <p:nvPr/>
      </p:nvGrpSpPr>
      <p:grpSpPr>
        <a:xfrm>
          <a:off x="0" y="0"/>
          <a:ext cx="0" cy="0"/>
          <a:chOff x="0" y="0"/>
          <a:chExt cx="0" cy="0"/>
        </a:xfrm>
      </p:grpSpPr>
      <p:sp>
        <p:nvSpPr>
          <p:cNvPr id="2" name="Text 0"/>
          <p:cNvSpPr/>
          <p:nvPr/>
        </p:nvSpPr>
        <p:spPr>
          <a:xfrm>
            <a:off x="812767" y="812766"/>
            <a:ext cx="7382419"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FFB066"/>
                </a:solidFill>
                <a:latin typeface="Arial" panose="020B0604020202020204" pitchFamily="34" charset="0"/>
                <a:ea typeface="Arial" panose="020B0604020202020204" pitchFamily="34" charset="-122"/>
                <a:cs typeface="Arial" panose="020B0604020202020204" pitchFamily="34" charset="-120"/>
              </a:rPr>
              <a:t>LIVE DEMO – 15 MIN</a:t>
            </a:r>
            <a:endParaRPr lang="en-US" sz="1200" dirty="0"/>
          </a:p>
        </p:txBody>
      </p:sp>
      <p:grpSp>
        <p:nvGrpSpPr>
          <p:cNvPr id="12" name="Group 11"/>
          <p:cNvGrpSpPr/>
          <p:nvPr/>
        </p:nvGrpSpPr>
        <p:grpSpPr>
          <a:xfrm>
            <a:off x="726503" y="1482393"/>
            <a:ext cx="10566466" cy="508000"/>
            <a:chOff x="812767" y="4299396"/>
            <a:chExt cx="10566466" cy="508000"/>
          </a:xfrm>
        </p:grpSpPr>
        <p:sp>
          <p:nvSpPr>
            <p:cNvPr id="5" name="Shape 2"/>
            <p:cNvSpPr/>
            <p:nvPr/>
          </p:nvSpPr>
          <p:spPr>
            <a:xfrm>
              <a:off x="812767" y="4299396"/>
              <a:ext cx="10566466" cy="508000"/>
            </a:xfrm>
            <a:prstGeom prst="roundRect">
              <a:avLst>
                <a:gd name="adj" fmla="val 25000"/>
              </a:avLst>
            </a:prstGeom>
            <a:solidFill>
              <a:srgbClr val="F8821E"/>
            </a:solidFill>
          </p:spPr>
          <p:txBody>
            <a:bodyPr/>
            <a:lstStyle/>
            <a:p>
              <a:endParaRPr lang="en-IN"/>
            </a:p>
          </p:txBody>
        </p:sp>
        <p:pic>
          <p:nvPicPr>
            <p:cNvPr id="6" name="Image 0" descr="Play"/>
            <p:cNvPicPr>
              <a:picLocks noChangeAspect="1"/>
            </p:cNvPicPr>
            <p:nvPr/>
          </p:nvPicPr>
          <p:blipFill>
            <a:blip r:embed="rId3"/>
            <a:srcRect/>
            <a:stretch>
              <a:fillRect/>
            </a:stretch>
          </p:blipFill>
          <p:spPr>
            <a:xfrm>
              <a:off x="990534" y="4426396"/>
              <a:ext cx="254000" cy="254000"/>
            </a:xfrm>
            <a:prstGeom prst="rect">
              <a:avLst/>
            </a:prstGeom>
          </p:spPr>
        </p:pic>
        <p:sp>
          <p:nvSpPr>
            <p:cNvPr id="7" name="Text 3"/>
            <p:cNvSpPr/>
            <p:nvPr/>
          </p:nvSpPr>
          <p:spPr>
            <a:xfrm>
              <a:off x="1371534" y="4428958"/>
              <a:ext cx="6808787" cy="274274"/>
            </a:xfrm>
            <a:prstGeom prst="rect">
              <a:avLst/>
            </a:prstGeom>
            <a:noFill/>
          </p:spPr>
          <p:txBody>
            <a:bodyPr wrap="square" lIns="0" tIns="0" rIns="0" bIns="0" rtlCol="0" anchor="t">
              <a:normAutofit/>
            </a:bodyPr>
            <a:lstStyle/>
            <a:p>
              <a:pPr marL="0" indent="0" algn="l">
                <a:lnSpc>
                  <a:spcPts val="1960"/>
                </a:lnSpc>
                <a:buNone/>
              </a:pPr>
              <a:r>
                <a:rPr lang="en-US" sz="1400" b="1" dirty="0">
                  <a:solidFill>
                    <a:srgbClr val="17154A"/>
                  </a:solidFill>
                  <a:latin typeface="Arial" panose="020B0604020202020204" pitchFamily="34" charset="0"/>
                  <a:ea typeface="Arial" panose="020B0604020202020204" pitchFamily="34" charset="-122"/>
                  <a:cs typeface="Arial" panose="020B0604020202020204" pitchFamily="34" charset="-120"/>
                </a:rPr>
                <a:t>Switch to the app now. Backup recording: [file name, ready to play]</a:t>
              </a:r>
              <a:endParaRPr lang="en-US" sz="1400" dirty="0"/>
            </a:p>
          </p:txBody>
        </p:sp>
      </p:grpSp>
      <p:sp>
        <p:nvSpPr>
          <p:cNvPr id="8" name="Text 4"/>
          <p:cNvSpPr/>
          <p:nvPr/>
        </p:nvSpPr>
        <p:spPr>
          <a:xfrm>
            <a:off x="812767" y="6238295"/>
            <a:ext cx="7848600" cy="238720"/>
          </a:xfrm>
          <a:prstGeom prst="rect">
            <a:avLst/>
          </a:prstGeom>
          <a:noFill/>
        </p:spPr>
        <p:txBody>
          <a:bodyPr wrap="square" lIns="0" tIns="0" rIns="0" bIns="0" rtlCol="0" anchor="t">
            <a:normAutofit/>
          </a:bodyPr>
          <a:lstStyle/>
          <a:p>
            <a:pPr marL="0" indent="0" algn="l">
              <a:lnSpc>
                <a:spcPts val="1680"/>
              </a:lnSpc>
              <a:buNone/>
            </a:pPr>
            <a:r>
              <a:rPr lang="en-IN" sz="1200" dirty="0">
                <a:solidFill>
                  <a:srgbClr val="A9A6D6"/>
                </a:solidFill>
                <a:latin typeface="Arial" panose="020B0604020202020204" pitchFamily="34" charset="0"/>
                <a:ea typeface="Arial" panose="020B0604020202020204" pitchFamily="34" charset="-122"/>
                <a:cs typeface="Arial" panose="020B0604020202020204" pitchFamily="34" charset="-120"/>
              </a:rPr>
              <a:t>Cyber knight </a:t>
            </a:r>
            <a:r>
              <a:rPr lang="en-US" sz="1200" dirty="0">
                <a:solidFill>
                  <a:srgbClr val="A9A6D6"/>
                </a:solidFill>
                <a:latin typeface="Arial" panose="020B0604020202020204" pitchFamily="34" charset="0"/>
                <a:ea typeface="Arial" panose="020B0604020202020204" pitchFamily="34" charset="-122"/>
                <a:cs typeface="Arial" panose="020B0604020202020204" pitchFamily="34" charset="-120"/>
              </a:rPr>
              <a:t>· JJCET AI-PDLC Hackathon</a:t>
            </a:r>
            <a:endParaRPr lang="en-US" sz="1200" dirty="0"/>
          </a:p>
        </p:txBody>
      </p:sp>
      <p:sp>
        <p:nvSpPr>
          <p:cNvPr id="9" name="Text 5"/>
          <p:cNvSpPr/>
          <p:nvPr/>
        </p:nvSpPr>
        <p:spPr>
          <a:xfrm>
            <a:off x="10058433" y="6238295"/>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A9A6D6"/>
                </a:solidFill>
                <a:latin typeface="Arial" panose="020B0604020202020204" pitchFamily="34" charset="0"/>
                <a:ea typeface="Arial" panose="020B0604020202020204" pitchFamily="34" charset="-122"/>
                <a:cs typeface="Arial" panose="020B0604020202020204"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BF8F2"/>
        </a:solidFill>
        <a:effectLst/>
      </p:bgPr>
    </p:bg>
    <p:spTree>
      <p:nvGrpSpPr>
        <p:cNvPr id="1" name=""/>
        <p:cNvGrpSpPr/>
        <p:nvPr/>
      </p:nvGrpSpPr>
      <p:grpSpPr>
        <a:xfrm>
          <a:off x="0" y="0"/>
          <a:ext cx="0" cy="0"/>
          <a:chOff x="0" y="0"/>
          <a:chExt cx="0" cy="0"/>
        </a:xfrm>
      </p:grpSpPr>
      <p:sp>
        <p:nvSpPr>
          <p:cNvPr id="2" name="Text 0"/>
          <p:cNvSpPr/>
          <p:nvPr/>
        </p:nvSpPr>
        <p:spPr>
          <a:xfrm>
            <a:off x="812767" y="812766"/>
            <a:ext cx="10883460" cy="238720"/>
          </a:xfrm>
          <a:prstGeom prst="rect">
            <a:avLst/>
          </a:prstGeom>
          <a:noFill/>
        </p:spPr>
        <p:txBody>
          <a:bodyPr wrap="square" lIns="0" tIns="0" rIns="0" bIns="0" rtlCol="0" anchor="t">
            <a:normAutofit/>
          </a:bodyPr>
          <a:lstStyle/>
          <a:p>
            <a:pPr marL="0" indent="0" algn="l">
              <a:lnSpc>
                <a:spcPts val="1680"/>
              </a:lnSpc>
              <a:buNone/>
            </a:pPr>
            <a:r>
              <a:rPr lang="en-US" sz="1200" b="1" kern="0" spc="150" dirty="0">
                <a:solidFill>
                  <a:srgbClr val="B4550A"/>
                </a:solidFill>
                <a:latin typeface="Arial" panose="020B0604020202020204" pitchFamily="34" charset="0"/>
                <a:ea typeface="Arial" panose="020B0604020202020204" pitchFamily="34" charset="-122"/>
                <a:cs typeface="Arial" panose="020B0604020202020204" pitchFamily="34" charset="-120"/>
              </a:rPr>
              <a:t>HOW WE USED AI</a:t>
            </a:r>
            <a:endParaRPr lang="en-US" sz="1200" dirty="0"/>
          </a:p>
        </p:txBody>
      </p:sp>
      <p:sp>
        <p:nvSpPr>
          <p:cNvPr id="3" name="Text 1"/>
          <p:cNvSpPr>
            <a:spLocks noGrp="1"/>
          </p:cNvSpPr>
          <p:nvPr>
            <p:ph type="title"/>
          </p:nvPr>
        </p:nvSpPr>
        <p:spPr>
          <a:xfrm>
            <a:off x="812767" y="1102237"/>
            <a:ext cx="10883460" cy="452041"/>
          </a:xfrm>
          <a:prstGeom prst="rect">
            <a:avLst/>
          </a:prstGeom>
          <a:noFill/>
        </p:spPr>
        <p:txBody>
          <a:bodyPr wrap="square" lIns="0" tIns="0" rIns="0" bIns="0" rtlCol="0" anchor="t">
            <a:normAutofit/>
          </a:bodyPr>
          <a:lstStyle/>
          <a:p>
            <a:pPr marL="0" indent="0" algn="l">
              <a:lnSpc>
                <a:spcPts val="3360"/>
              </a:lnSpc>
              <a:buNone/>
            </a:pPr>
            <a:r>
              <a:rPr lang="en-US" sz="3200" b="1" i="0" dirty="0">
                <a:solidFill>
                  <a:srgbClr val="17154A"/>
                </a:solidFill>
                <a:latin typeface="Arial" panose="020B0604020202020204" pitchFamily="34" charset="0"/>
                <a:ea typeface="Arial" panose="020B0604020202020204" pitchFamily="34" charset="-122"/>
                <a:cs typeface="Arial" panose="020B0604020202020204" pitchFamily="34" charset="-120"/>
              </a:rPr>
              <a:t>What worked, what it got wrong, what we changed</a:t>
            </a:r>
            <a:endParaRPr lang="en-US" sz="3200" dirty="0"/>
          </a:p>
        </p:txBody>
      </p:sp>
      <p:sp>
        <p:nvSpPr>
          <p:cNvPr id="4" name="Shape 2"/>
          <p:cNvSpPr/>
          <p:nvPr/>
        </p:nvSpPr>
        <p:spPr>
          <a:xfrm>
            <a:off x="819117" y="1789227"/>
            <a:ext cx="3414894"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5" name="Image 0" descr="ThumbsUp"/>
          <p:cNvPicPr>
            <a:picLocks noChangeAspect="1"/>
          </p:cNvPicPr>
          <p:nvPr/>
        </p:nvPicPr>
        <p:blipFill>
          <a:blip r:embed="rId3"/>
          <a:srcRect/>
          <a:stretch>
            <a:fillRect/>
          </a:stretch>
        </p:blipFill>
        <p:spPr>
          <a:xfrm>
            <a:off x="1026501" y="1996610"/>
            <a:ext cx="254000" cy="254000"/>
          </a:xfrm>
          <a:prstGeom prst="rect">
            <a:avLst/>
          </a:prstGeom>
        </p:spPr>
      </p:pic>
      <p:sp>
        <p:nvSpPr>
          <p:cNvPr id="6" name="Text 3"/>
          <p:cNvSpPr/>
          <p:nvPr/>
        </p:nvSpPr>
        <p:spPr>
          <a:xfrm>
            <a:off x="1369384" y="2001655"/>
            <a:ext cx="2289572"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7154A"/>
                </a:solidFill>
                <a:latin typeface="Arial" panose="020B0604020202020204" pitchFamily="34" charset="0"/>
                <a:ea typeface="Arial" panose="020B0604020202020204" pitchFamily="34" charset="-122"/>
                <a:cs typeface="Arial" panose="020B0604020202020204" pitchFamily="34" charset="-120"/>
              </a:rPr>
              <a:t>Prompt that worked</a:t>
            </a:r>
            <a:endParaRPr lang="en-US" sz="1600" dirty="0"/>
          </a:p>
        </p:txBody>
      </p:sp>
      <p:sp>
        <p:nvSpPr>
          <p:cNvPr id="7" name="Text 4"/>
          <p:cNvSpPr/>
          <p:nvPr/>
        </p:nvSpPr>
        <p:spPr>
          <a:xfrm>
            <a:off x="1026501" y="2339494"/>
            <a:ext cx="3090131" cy="256497"/>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B3A5A"/>
                </a:solidFill>
                <a:latin typeface="Arial" panose="020B0604020202020204" pitchFamily="34" charset="0"/>
                <a:ea typeface="Arial" panose="020B0604020202020204" pitchFamily="34" charset="-122"/>
                <a:cs typeface="Arial" panose="020B0604020202020204" pitchFamily="34" charset="-120"/>
              </a:rPr>
              <a:t>“[Paste the prompt, shortened]”</a:t>
            </a:r>
            <a:endParaRPr lang="en-US" sz="1300" dirty="0"/>
          </a:p>
        </p:txBody>
      </p:sp>
      <p:sp>
        <p:nvSpPr>
          <p:cNvPr id="8" name="Text 5"/>
          <p:cNvSpPr/>
          <p:nvPr/>
        </p:nvSpPr>
        <p:spPr>
          <a:xfrm>
            <a:off x="1026501" y="2659475"/>
            <a:ext cx="3090131"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Tool / skill: [e.g. grill-me, AI-DLC, Kiro]</a:t>
            </a:r>
            <a:endParaRPr lang="en-US" sz="1200" dirty="0"/>
          </a:p>
        </p:txBody>
      </p:sp>
      <p:sp>
        <p:nvSpPr>
          <p:cNvPr id="9" name="Shape 6"/>
          <p:cNvSpPr/>
          <p:nvPr/>
        </p:nvSpPr>
        <p:spPr>
          <a:xfrm>
            <a:off x="4399095" y="1789227"/>
            <a:ext cx="3414977" cy="1522049"/>
          </a:xfrm>
          <a:prstGeom prst="roundRect">
            <a:avLst>
              <a:gd name="adj" fmla="val 9596"/>
            </a:avLst>
          </a:prstGeom>
          <a:solidFill>
            <a:srgbClr val="FFFDF9"/>
          </a:solidFill>
          <a:ln w="12700">
            <a:solidFill>
              <a:srgbClr val="E3E0F2"/>
            </a:solidFill>
            <a:prstDash val="solid"/>
          </a:ln>
        </p:spPr>
        <p:txBody>
          <a:bodyPr/>
          <a:lstStyle/>
          <a:p>
            <a:endParaRPr lang="en-IN"/>
          </a:p>
        </p:txBody>
      </p:sp>
      <p:pic>
        <p:nvPicPr>
          <p:cNvPr id="10" name="Image 1" descr="Warning"/>
          <p:cNvPicPr>
            <a:picLocks noChangeAspect="1"/>
          </p:cNvPicPr>
          <p:nvPr/>
        </p:nvPicPr>
        <p:blipFill>
          <a:blip r:embed="rId4"/>
          <a:srcRect/>
          <a:stretch>
            <a:fillRect/>
          </a:stretch>
        </p:blipFill>
        <p:spPr>
          <a:xfrm>
            <a:off x="4606479" y="1996610"/>
            <a:ext cx="254000" cy="254000"/>
          </a:xfrm>
          <a:prstGeom prst="rect">
            <a:avLst/>
          </a:prstGeom>
        </p:spPr>
      </p:pic>
      <p:sp>
        <p:nvSpPr>
          <p:cNvPr id="11" name="Text 7"/>
          <p:cNvSpPr/>
          <p:nvPr/>
        </p:nvSpPr>
        <p:spPr>
          <a:xfrm>
            <a:off x="4949362" y="2001655"/>
            <a:ext cx="2144514"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17154A"/>
                </a:solidFill>
                <a:latin typeface="Arial" panose="020B0604020202020204" pitchFamily="34" charset="0"/>
                <a:ea typeface="Arial" panose="020B0604020202020204" pitchFamily="34" charset="-122"/>
                <a:cs typeface="Arial" panose="020B0604020202020204" pitchFamily="34" charset="-120"/>
              </a:rPr>
              <a:t>What AI got wrong</a:t>
            </a:r>
            <a:endParaRPr lang="en-US" sz="1600" dirty="0"/>
          </a:p>
        </p:txBody>
      </p:sp>
      <p:sp>
        <p:nvSpPr>
          <p:cNvPr id="12" name="Text 8"/>
          <p:cNvSpPr/>
          <p:nvPr/>
        </p:nvSpPr>
        <p:spPr>
          <a:xfrm>
            <a:off x="4606479" y="2339494"/>
            <a:ext cx="3090216" cy="48759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3B3A5A"/>
                </a:solidFill>
                <a:latin typeface="Arial" panose="020B0604020202020204" pitchFamily="34" charset="0"/>
                <a:ea typeface="Arial" panose="020B0604020202020204" pitchFamily="34" charset="-122"/>
                <a:cs typeface="Arial" panose="020B0604020202020204" pitchFamily="34" charset="-120"/>
              </a:rPr>
              <a:t>[A made-up fact, a broken feature, a weak story]</a:t>
            </a:r>
            <a:endParaRPr lang="en-US" sz="1300" dirty="0"/>
          </a:p>
        </p:txBody>
      </p:sp>
      <p:sp>
        <p:nvSpPr>
          <p:cNvPr id="13" name="Text 9"/>
          <p:cNvSpPr/>
          <p:nvPr/>
        </p:nvSpPr>
        <p:spPr>
          <a:xfrm>
            <a:off x="4606479" y="2890571"/>
            <a:ext cx="3090216"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How we caught it: [test, review, mentor]</a:t>
            </a:r>
            <a:endParaRPr lang="en-US" sz="1200" dirty="0"/>
          </a:p>
        </p:txBody>
      </p:sp>
      <p:sp>
        <p:nvSpPr>
          <p:cNvPr id="14" name="Shape 10"/>
          <p:cNvSpPr/>
          <p:nvPr/>
        </p:nvSpPr>
        <p:spPr>
          <a:xfrm>
            <a:off x="7972805" y="1782877"/>
            <a:ext cx="3406428" cy="1534749"/>
          </a:xfrm>
          <a:prstGeom prst="roundRect">
            <a:avLst>
              <a:gd name="adj" fmla="val 9930"/>
            </a:avLst>
          </a:prstGeom>
          <a:solidFill>
            <a:srgbClr val="312F92"/>
          </a:solidFill>
        </p:spPr>
        <p:txBody>
          <a:bodyPr/>
          <a:lstStyle/>
          <a:p>
            <a:endParaRPr lang="en-IN"/>
          </a:p>
        </p:txBody>
      </p:sp>
      <p:pic>
        <p:nvPicPr>
          <p:cNvPr id="15" name="Image 2" descr="Wrench"/>
          <p:cNvPicPr>
            <a:picLocks noChangeAspect="1"/>
          </p:cNvPicPr>
          <p:nvPr/>
        </p:nvPicPr>
        <p:blipFill>
          <a:blip r:embed="rId5"/>
          <a:srcRect/>
          <a:stretch>
            <a:fillRect/>
          </a:stretch>
        </p:blipFill>
        <p:spPr>
          <a:xfrm>
            <a:off x="8175955" y="1986028"/>
            <a:ext cx="254000" cy="254000"/>
          </a:xfrm>
          <a:prstGeom prst="rect">
            <a:avLst/>
          </a:prstGeom>
        </p:spPr>
      </p:pic>
      <p:sp>
        <p:nvSpPr>
          <p:cNvPr id="16" name="Text 11"/>
          <p:cNvSpPr/>
          <p:nvPr/>
        </p:nvSpPr>
        <p:spPr>
          <a:xfrm>
            <a:off x="8518839" y="1991072"/>
            <a:ext cx="2059384" cy="269230"/>
          </a:xfrm>
          <a:prstGeom prst="rect">
            <a:avLst/>
          </a:prstGeom>
          <a:noFill/>
        </p:spPr>
        <p:txBody>
          <a:bodyPr wrap="square" lIns="0" tIns="0" rIns="0" bIns="0" rtlCol="0" anchor="t">
            <a:normAutofit/>
          </a:bodyPr>
          <a:lstStyle/>
          <a:p>
            <a:pPr marL="0" indent="0" algn="l">
              <a:lnSpc>
                <a:spcPts val="1920"/>
              </a:lnSpc>
              <a:buNone/>
            </a:pPr>
            <a:r>
              <a:rPr lang="en-US" sz="1600" b="1" dirty="0">
                <a:solidFill>
                  <a:srgbClr val="FBF8F2"/>
                </a:solidFill>
                <a:latin typeface="Arial" panose="020B0604020202020204" pitchFamily="34" charset="0"/>
                <a:ea typeface="Arial" panose="020B0604020202020204" pitchFamily="34" charset="-122"/>
                <a:cs typeface="Arial" panose="020B0604020202020204" pitchFamily="34" charset="-120"/>
              </a:rPr>
              <a:t>What we changed</a:t>
            </a:r>
            <a:endParaRPr lang="en-US" sz="1600" dirty="0"/>
          </a:p>
        </p:txBody>
      </p:sp>
      <p:sp>
        <p:nvSpPr>
          <p:cNvPr id="17" name="Text 12"/>
          <p:cNvSpPr/>
          <p:nvPr/>
        </p:nvSpPr>
        <p:spPr>
          <a:xfrm>
            <a:off x="8175955" y="2328912"/>
            <a:ext cx="3090131" cy="487594"/>
          </a:xfrm>
          <a:prstGeom prst="rect">
            <a:avLst/>
          </a:prstGeom>
          <a:noFill/>
        </p:spPr>
        <p:txBody>
          <a:bodyPr wrap="square" lIns="0" tIns="0" rIns="0" bIns="0" rtlCol="0" anchor="t">
            <a:normAutofit/>
          </a:bodyPr>
          <a:lstStyle/>
          <a:p>
            <a:pPr marL="0" indent="0" algn="l">
              <a:lnSpc>
                <a:spcPts val="1820"/>
              </a:lnSpc>
              <a:buNone/>
            </a:pPr>
            <a:r>
              <a:rPr lang="en-US" sz="1300" dirty="0">
                <a:solidFill>
                  <a:srgbClr val="E1DFF5"/>
                </a:solidFill>
                <a:latin typeface="Arial" panose="020B0604020202020204" pitchFamily="34" charset="0"/>
                <a:ea typeface="Arial" panose="020B0604020202020204" pitchFamily="34" charset="-122"/>
                <a:cs typeface="Arial" panose="020B0604020202020204" pitchFamily="34" charset="-120"/>
              </a:rPr>
              <a:t>[How you fixed it, and what you’d do differently next time]</a:t>
            </a:r>
            <a:endParaRPr lang="en-US" sz="1300" dirty="0"/>
          </a:p>
        </p:txBody>
      </p:sp>
      <p:sp>
        <p:nvSpPr>
          <p:cNvPr id="18" name="Text 13"/>
          <p:cNvSpPr/>
          <p:nvPr/>
        </p:nvSpPr>
        <p:spPr>
          <a:xfrm>
            <a:off x="812767" y="6238295"/>
            <a:ext cx="7848600" cy="238720"/>
          </a:xfrm>
          <a:prstGeom prst="rect">
            <a:avLst/>
          </a:prstGeom>
          <a:noFill/>
        </p:spPr>
        <p:txBody>
          <a:bodyPr wrap="square" lIns="0" tIns="0" rIns="0" bIns="0" rtlCol="0" anchor="t">
            <a:normAutofit/>
          </a:bodyPr>
          <a:lstStyle/>
          <a:p>
            <a:pPr marL="0" indent="0" algn="l">
              <a:lnSpc>
                <a:spcPts val="1680"/>
              </a:lnSpc>
              <a:buNone/>
            </a:pP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[Team name] · JJCET AI-PDLC Hackathon</a:t>
            </a:r>
            <a:endParaRPr lang="en-US" sz="1200" dirty="0"/>
          </a:p>
        </p:txBody>
      </p:sp>
      <p:sp>
        <p:nvSpPr>
          <p:cNvPr id="19" name="Text 14"/>
          <p:cNvSpPr/>
          <p:nvPr/>
        </p:nvSpPr>
        <p:spPr>
          <a:xfrm>
            <a:off x="10058433" y="6238295"/>
            <a:ext cx="1320800" cy="238720"/>
          </a:xfrm>
          <a:prstGeom prst="rect">
            <a:avLst/>
          </a:prstGeom>
          <a:noFill/>
        </p:spPr>
        <p:txBody>
          <a:bodyPr wrap="square" lIns="0" tIns="0" rIns="0" bIns="0" rtlCol="0" anchor="t">
            <a:normAutofit/>
          </a:bodyPr>
          <a:lstStyle/>
          <a:p>
            <a:pPr marL="0" indent="0" algn="r">
              <a:lnSpc>
                <a:spcPts val="1680"/>
              </a:lnSpc>
              <a:buNone/>
            </a:pPr>
            <a:r>
              <a:rPr lang="en-US" sz="1200" dirty="0">
                <a:solidFill>
                  <a:srgbClr val="6A6888"/>
                </a:solidFill>
                <a:latin typeface="Arial" panose="020B0604020202020204" pitchFamily="34" charset="0"/>
                <a:ea typeface="Arial" panose="020B0604020202020204" pitchFamily="34" charset="-122"/>
                <a:cs typeface="Arial" panose="020B0604020202020204" pitchFamily="34" charset="-120"/>
              </a:rPr>
              <a:t>6</a:t>
            </a:r>
            <a:endParaRPr lang="en-US" sz="1200" dirty="0"/>
          </a:p>
        </p:txBody>
      </p:sp>
    </p:spTree>
  </p:cSld>
  <p:clrMapOvr>
    <a:masterClrMapping/>
  </p:clrMapOvr>
</p:sld>
</file>

<file path=ppt/theme/theme1.xml><?xml version="1.0" encoding="utf-8"?>
<a:theme xmlns:a="http://schemas.openxmlformats.org/drawingml/2006/main" name="JJCET Hackathon Team Demo Template">
  <a:themeElements>
    <a:clrScheme name="JJCET Hackathon Team Demo Template">
      <a:dk1>
        <a:srgbClr val="17154A"/>
      </a:dk1>
      <a:lt1>
        <a:srgbClr val="FBF8F2"/>
      </a:lt1>
      <a:dk2>
        <a:srgbClr val="504E74"/>
      </a:dk2>
      <a:lt2>
        <a:srgbClr val="E4E1E1"/>
      </a:lt2>
      <a:accent1>
        <a:srgbClr val="F8821E"/>
      </a:accent1>
      <a:accent2>
        <a:srgbClr val="FFB066"/>
      </a:accent2>
      <a:accent3>
        <a:srgbClr val="312F92"/>
      </a:accent3>
      <a:accent4>
        <a:srgbClr val="8A3E05"/>
      </a:accent4>
      <a:accent5>
        <a:srgbClr val="B4550A"/>
      </a:accent5>
      <a:accent6>
        <a:srgbClr val="A9A6D6"/>
      </a:accent6>
      <a:hlink>
        <a:srgbClr val="0563C1"/>
      </a:hlink>
      <a:folHlink>
        <a:srgbClr val="954F72"/>
      </a:folHlink>
    </a:clrScheme>
    <a:fontScheme name="JJCET Hackathon Team Demo Templat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2800</Words>
  <Application>Microsoft Office PowerPoint</Application>
  <PresentationFormat>Widescreen</PresentationFormat>
  <Paragraphs>122</Paragraphs>
  <Slides>6</Slides>
  <Notes>6</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JJCET Hackathon Team Demo Template</vt:lpstr>
      <vt:lpstr>Cyber Knights</vt:lpstr>
      <vt:lpstr>Navigation users can struggle to choose the most suitable route when traffic conditions change, causing unexpected delays and unreliable arrival-time estimates.</vt:lpstr>
      <vt:lpstr>“Finding alternative routes is not enough; users need help deciding which route is most suitable as traffic conditions change.”</vt:lpstr>
      <vt:lpstr>What we built, and what we cut</vt:lpstr>
      <vt:lpstr>PowerPoint Presentation</vt:lpstr>
      <vt:lpstr>What worked, what it got wrong, what we changed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JJCET Hackathon Team Demo Template</dc:title>
  <dc:creator/>
  <cp:lastModifiedBy>Saranya R S</cp:lastModifiedBy>
  <cp:revision>4</cp:revision>
  <dcterms:created xsi:type="dcterms:W3CDTF">2026-10-21T16:29:00Z</dcterms:created>
  <dcterms:modified xsi:type="dcterms:W3CDTF">2026-10-24T16:19:55Z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1033-12.1.0.29162</vt:lpwstr>
  </property>
  <property fmtid="{D5CDD505-2E9C-101B-9397-08002B2CF9AE}" pid="3" name="ICV">
    <vt:lpwstr>6B5C4E7A5F01485DB29EE622BBE4ADEF_12</vt:lpwstr>
  </property>
</Properties>
</file>