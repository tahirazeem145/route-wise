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D6FC5-15E9-457F-8978-651FE5C5D58F}" v="1" dt="2026-10-21T16:32:10.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 userId="8eddc4f8-40a1-49ff-9eca-35f95811660b" providerId="ADAL" clId="{90CAD2EB-C547-42C3-9F1F-0B5E34014355}"/>
    <pc:docChg chg="undo custSel modSld">
      <pc:chgData name="Shan" userId="8eddc4f8-40a1-49ff-9eca-35f95811660b" providerId="ADAL" clId="{90CAD2EB-C547-42C3-9F1F-0B5E34014355}" dt="2026-10-21T16:59:12.704" v="22" actId="20577"/>
      <pc:docMkLst>
        <pc:docMk/>
      </pc:docMkLst>
      <pc:sldChg chg="addSp delSp modSp mod">
        <pc:chgData name="Shan" userId="8eddc4f8-40a1-49ff-9eca-35f95811660b" providerId="ADAL" clId="{90CAD2EB-C547-42C3-9F1F-0B5E34014355}" dt="2026-10-21T16:59:12.704" v="22" actId="20577"/>
        <pc:sldMkLst>
          <pc:docMk/>
          <pc:sldMk cId="0" sldId="260"/>
        </pc:sldMkLst>
        <pc:spChg chg="mod">
          <ac:chgData name="Shan" userId="8eddc4f8-40a1-49ff-9eca-35f95811660b" providerId="ADAL" clId="{90CAD2EB-C547-42C3-9F1F-0B5E34014355}" dt="2026-10-21T16:59:12.704" v="22" actId="20577"/>
          <ac:spMkLst>
            <pc:docMk/>
            <pc:sldMk cId="0" sldId="260"/>
            <ac:spMk id="2" creationId="{00000000-0000-0000-0000-000000000000}"/>
          </ac:spMkLst>
        </pc:spChg>
        <pc:spChg chg="del">
          <ac:chgData name="Shan" userId="8eddc4f8-40a1-49ff-9eca-35f95811660b" providerId="ADAL" clId="{90CAD2EB-C547-42C3-9F1F-0B5E34014355}" dt="2026-10-21T16:31:22.526" v="0" actId="478"/>
          <ac:spMkLst>
            <pc:docMk/>
            <pc:sldMk cId="0" sldId="260"/>
            <ac:spMk id="3" creationId="{00000000-0000-0000-0000-000000000000}"/>
          </ac:spMkLst>
        </pc:spChg>
        <pc:spChg chg="mod">
          <ac:chgData name="Shan" userId="8eddc4f8-40a1-49ff-9eca-35f95811660b" providerId="ADAL" clId="{90CAD2EB-C547-42C3-9F1F-0B5E34014355}" dt="2026-10-21T16:32:10.919" v="10" actId="164"/>
          <ac:spMkLst>
            <pc:docMk/>
            <pc:sldMk cId="0" sldId="260"/>
            <ac:spMk id="5" creationId="{00000000-0000-0000-0000-000000000000}"/>
          </ac:spMkLst>
        </pc:spChg>
        <pc:spChg chg="mod">
          <ac:chgData name="Shan" userId="8eddc4f8-40a1-49ff-9eca-35f95811660b" providerId="ADAL" clId="{90CAD2EB-C547-42C3-9F1F-0B5E34014355}" dt="2026-10-21T16:32:10.919" v="10" actId="164"/>
          <ac:spMkLst>
            <pc:docMk/>
            <pc:sldMk cId="0" sldId="260"/>
            <ac:spMk id="7" creationId="{00000000-0000-0000-0000-000000000000}"/>
          </ac:spMkLst>
        </pc:spChg>
        <pc:spChg chg="add del mod">
          <ac:chgData name="Shan" userId="8eddc4f8-40a1-49ff-9eca-35f95811660b" providerId="ADAL" clId="{90CAD2EB-C547-42C3-9F1F-0B5E34014355}" dt="2026-10-21T16:31:41.022" v="5" actId="478"/>
          <ac:spMkLst>
            <pc:docMk/>
            <pc:sldMk cId="0" sldId="260"/>
            <ac:spMk id="11" creationId="{A79637A5-DB8E-C717-908F-F79BCDF44654}"/>
          </ac:spMkLst>
        </pc:spChg>
        <pc:grpChg chg="add mod">
          <ac:chgData name="Shan" userId="8eddc4f8-40a1-49ff-9eca-35f95811660b" providerId="ADAL" clId="{90CAD2EB-C547-42C3-9F1F-0B5E34014355}" dt="2026-10-21T16:59:05.868" v="12" actId="1076"/>
          <ac:grpSpMkLst>
            <pc:docMk/>
            <pc:sldMk cId="0" sldId="260"/>
            <ac:grpSpMk id="12" creationId="{02CC949A-F025-BDE3-35E4-1AB388A675A6}"/>
          </ac:grpSpMkLst>
        </pc:grpChg>
        <pc:graphicFrameChg chg="del">
          <ac:chgData name="Shan" userId="8eddc4f8-40a1-49ff-9eca-35f95811660b" providerId="ADAL" clId="{90CAD2EB-C547-42C3-9F1F-0B5E34014355}" dt="2026-10-21T16:31:22.526" v="0" actId="478"/>
          <ac:graphicFrameMkLst>
            <pc:docMk/>
            <pc:sldMk cId="0" sldId="260"/>
            <ac:graphicFrameMk id="4" creationId="{00000000-0000-0000-0000-000000000000}"/>
          </ac:graphicFrameMkLst>
        </pc:graphicFrameChg>
        <pc:picChg chg="mod">
          <ac:chgData name="Shan" userId="8eddc4f8-40a1-49ff-9eca-35f95811660b" providerId="ADAL" clId="{90CAD2EB-C547-42C3-9F1F-0B5E34014355}" dt="2026-10-21T16:32:10.919" v="10" actId="164"/>
          <ac:picMkLst>
            <pc:docMk/>
            <pc:sldMk cId="0" sldId="260"/>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31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no more than 10 seconds here. Say your team name, your product in one line, and who your four points of contact are. Replace every bracketed item before you present.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Introduce one real-feeling person and the problem from their side. Use the persona from your MRD. Keep the workaround honest: “no competitors” is almost never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One insight only, the one that most shaped your product. Mark anything you could not verify as an assumption; judges reward that honesty.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Name your three Must-Haves and the metric that proves them. Then show what you cut and why. A clear cut list is one of the strongest signals of product thinking.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about two minutes. Leave this slide up for a moment so judges see which criteria you will show, then switch to the app and walk through each row in order. Your Dev drives, your BA narrates. If the live app fails, play the backup recording straight away.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Be specific and honest. One prompt that really helped, one thing the AI got wrong and how you caught it, and what you changed. This slide feeds the AI collaboration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54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54A"/>
              </a:gs>
              <a:gs pos="60000">
                <a:srgbClr val="262381"/>
              </a:gs>
              <a:gs pos="100000">
                <a:srgbClr val="312F92"/>
              </a:gs>
            </a:gsLst>
            <a:lin ang="2700000" scaled="0"/>
          </a:gradFill>
          <a:ln/>
        </p:spPr>
        <p:txBody>
          <a:bodyPr/>
          <a:lstStyle/>
          <a:p>
            <a:endParaRPr lang="en-IN"/>
          </a:p>
        </p:txBody>
      </p:sp>
      <p:sp>
        <p:nvSpPr>
          <p:cNvPr id="3" name="Shape 1"/>
          <p:cNvSpPr/>
          <p:nvPr/>
        </p:nvSpPr>
        <p:spPr>
          <a:xfrm>
            <a:off x="9017000" y="698500"/>
            <a:ext cx="2286000" cy="2286000"/>
          </a:xfrm>
          <a:prstGeom prst="roundRect">
            <a:avLst>
              <a:gd name="adj" fmla="val 50000"/>
            </a:avLst>
          </a:prstGeom>
          <a:gradFill rotWithShape="1">
            <a:gsLst>
              <a:gs pos="0">
                <a:srgbClr val="FFB066">
                  <a:alpha val="95000"/>
                </a:srgbClr>
              </a:gs>
              <a:gs pos="55000">
                <a:srgbClr val="F8821E">
                  <a:alpha val="95000"/>
                </a:srgbClr>
              </a:gs>
              <a:gs pos="100000">
                <a:srgbClr val="D9620A">
                  <a:alpha val="95000"/>
                </a:srgbClr>
              </a:gs>
            </a:gsLst>
            <a:path path="circle">
              <a:fillToRect l="35000" t="35000" r="65000" b="65000"/>
            </a:path>
          </a:gradFill>
          <a:ln/>
        </p:spPr>
        <p:txBody>
          <a:bodyPr/>
          <a:lstStyle/>
          <a:p>
            <a:endParaRPr lang="en-IN"/>
          </a:p>
        </p:txBody>
      </p:sp>
      <p:sp>
        <p:nvSpPr>
          <p:cNvPr id="4" name="Shape 2"/>
          <p:cNvSpPr/>
          <p:nvPr/>
        </p:nvSpPr>
        <p:spPr>
          <a:xfrm>
            <a:off x="812767" y="711150"/>
            <a:ext cx="2120801" cy="736534"/>
          </a:xfrm>
          <a:prstGeom prst="roundRect">
            <a:avLst>
              <a:gd name="adj" fmla="val 15519"/>
            </a:avLst>
          </a:prstGeom>
          <a:solidFill>
            <a:srgbClr val="FBF8F2"/>
          </a:solidFill>
          <a:ln/>
        </p:spPr>
        <p:txBody>
          <a:bodyPr/>
          <a:lstStyle/>
          <a:p>
            <a:endParaRPr lang="en-IN"/>
          </a:p>
        </p:txBody>
      </p:sp>
      <p:pic>
        <p:nvPicPr>
          <p:cNvPr id="5" name="Image 0" descr="JJ College of Engineering and Technology logo"/>
          <p:cNvPicPr>
            <a:picLocks noChangeAspect="1"/>
          </p:cNvPicPr>
          <p:nvPr/>
        </p:nvPicPr>
        <p:blipFill>
          <a:blip r:embed="rId3"/>
          <a:srcRect t="-283" b="-283"/>
          <a:stretch/>
        </p:blipFill>
        <p:spPr>
          <a:xfrm>
            <a:off x="952417" y="800034"/>
            <a:ext cx="1841500" cy="558767"/>
          </a:xfrm>
          <a:prstGeom prst="rect">
            <a:avLst/>
          </a:prstGeom>
        </p:spPr>
      </p:pic>
      <p:sp>
        <p:nvSpPr>
          <p:cNvPr id="6" name="Text 3"/>
          <p:cNvSpPr/>
          <p:nvPr/>
        </p:nvSpPr>
        <p:spPr>
          <a:xfrm>
            <a:off x="812767" y="2638309"/>
            <a:ext cx="7848600" cy="256497"/>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B066"/>
                </a:solidFill>
                <a:latin typeface="Arial" pitchFamily="34" charset="0"/>
                <a:ea typeface="Arial" pitchFamily="34" charset="-122"/>
                <a:cs typeface="Arial" pitchFamily="34" charset="-120"/>
              </a:rPr>
              <a:t>AI-PDLC HACKATHON · TEAM [00]</a:t>
            </a:r>
            <a:endParaRPr lang="en-US" sz="1300" dirty="0"/>
          </a:p>
        </p:txBody>
      </p:sp>
      <p:sp>
        <p:nvSpPr>
          <p:cNvPr id="7" name="Text 4"/>
          <p:cNvSpPr>
            <a:spLocks noGrp="1"/>
          </p:cNvSpPr>
          <p:nvPr>
            <p:ph type="title"/>
          </p:nvPr>
        </p:nvSpPr>
        <p:spPr>
          <a:xfrm>
            <a:off x="812767" y="2996406"/>
            <a:ext cx="7848600" cy="685783"/>
          </a:xfrm>
          <a:prstGeom prst="rect">
            <a:avLst/>
          </a:prstGeom>
          <a:noFill/>
          <a:ln/>
        </p:spPr>
        <p:txBody>
          <a:bodyPr wrap="square" lIns="0" tIns="0" rIns="0" bIns="0" rtlCol="0" anchor="t">
            <a:normAutofit/>
          </a:bodyPr>
          <a:lstStyle/>
          <a:p>
            <a:pPr marL="0" indent="0" algn="l">
              <a:lnSpc>
                <a:spcPts val="5200"/>
              </a:lnSpc>
              <a:buNone/>
            </a:pPr>
            <a:r>
              <a:rPr lang="en-US" sz="5200" b="1" i="0" dirty="0">
                <a:solidFill>
                  <a:srgbClr val="FBF8F2"/>
                </a:solidFill>
                <a:latin typeface="Arial" pitchFamily="34" charset="0"/>
                <a:ea typeface="Arial" pitchFamily="34" charset="-122"/>
                <a:cs typeface="Arial" pitchFamily="34" charset="-120"/>
              </a:rPr>
              <a:t>[Team name]</a:t>
            </a:r>
            <a:endParaRPr lang="en-US" sz="5200" dirty="0"/>
          </a:p>
        </p:txBody>
      </p:sp>
      <p:sp>
        <p:nvSpPr>
          <p:cNvPr id="8" name="Text 5"/>
          <p:cNvSpPr/>
          <p:nvPr/>
        </p:nvSpPr>
        <p:spPr>
          <a:xfrm>
            <a:off x="812767" y="3783790"/>
            <a:ext cx="7848600" cy="316772"/>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D6D3F0"/>
                </a:solidFill>
                <a:latin typeface="Arial" pitchFamily="34" charset="0"/>
                <a:ea typeface="Arial" pitchFamily="34" charset="-122"/>
                <a:cs typeface="Arial" pitchFamily="34" charset="-120"/>
              </a:rPr>
              <a:t>[Your product in one line: what it does, for whom]</a:t>
            </a:r>
            <a:endParaRPr lang="en-US" sz="1700" dirty="0"/>
          </a:p>
        </p:txBody>
      </p:sp>
      <p:sp>
        <p:nvSpPr>
          <p:cNvPr id="9" name="Shape 6"/>
          <p:cNvSpPr/>
          <p:nvPr/>
        </p:nvSpPr>
        <p:spPr>
          <a:xfrm>
            <a:off x="812767" y="5265704"/>
            <a:ext cx="2546366" cy="779529"/>
          </a:xfrm>
          <a:prstGeom prst="roundRect">
            <a:avLst>
              <a:gd name="adj" fmla="val 16292"/>
            </a:avLst>
          </a:prstGeom>
          <a:solidFill>
            <a:srgbClr val="26235E"/>
          </a:solidFill>
          <a:ln/>
        </p:spPr>
        <p:txBody>
          <a:bodyPr/>
          <a:lstStyle/>
          <a:p>
            <a:endParaRPr lang="en-IN"/>
          </a:p>
        </p:txBody>
      </p:sp>
      <p:sp>
        <p:nvSpPr>
          <p:cNvPr id="10" name="Text 7"/>
          <p:cNvSpPr/>
          <p:nvPr/>
        </p:nvSpPr>
        <p:spPr>
          <a:xfrm>
            <a:off x="977801"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BA</a:t>
            </a:r>
            <a:endParaRPr lang="en-US" sz="1200" dirty="0"/>
          </a:p>
        </p:txBody>
      </p:sp>
      <p:sp>
        <p:nvSpPr>
          <p:cNvPr id="11" name="Text 8"/>
          <p:cNvSpPr/>
          <p:nvPr/>
        </p:nvSpPr>
        <p:spPr>
          <a:xfrm>
            <a:off x="977801"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[Name]</a:t>
            </a:r>
            <a:endParaRPr lang="en-US" sz="1400" dirty="0"/>
          </a:p>
        </p:txBody>
      </p:sp>
      <p:sp>
        <p:nvSpPr>
          <p:cNvPr id="12" name="Shape 9"/>
          <p:cNvSpPr/>
          <p:nvPr/>
        </p:nvSpPr>
        <p:spPr>
          <a:xfrm>
            <a:off x="3486133" y="5265704"/>
            <a:ext cx="2546366" cy="779529"/>
          </a:xfrm>
          <a:prstGeom prst="roundRect">
            <a:avLst>
              <a:gd name="adj" fmla="val 16292"/>
            </a:avLst>
          </a:prstGeom>
          <a:solidFill>
            <a:srgbClr val="26235E"/>
          </a:solidFill>
          <a:ln/>
        </p:spPr>
        <p:txBody>
          <a:bodyPr/>
          <a:lstStyle/>
          <a:p>
            <a:endParaRPr lang="en-IN"/>
          </a:p>
        </p:txBody>
      </p:sp>
      <p:sp>
        <p:nvSpPr>
          <p:cNvPr id="13" name="Text 10"/>
          <p:cNvSpPr/>
          <p:nvPr/>
        </p:nvSpPr>
        <p:spPr>
          <a:xfrm>
            <a:off x="3651167"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UI/UX</a:t>
            </a:r>
            <a:endParaRPr lang="en-US" sz="1200" dirty="0"/>
          </a:p>
        </p:txBody>
      </p:sp>
      <p:sp>
        <p:nvSpPr>
          <p:cNvPr id="14" name="Text 11"/>
          <p:cNvSpPr/>
          <p:nvPr/>
        </p:nvSpPr>
        <p:spPr>
          <a:xfrm>
            <a:off x="3651167"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[Name]</a:t>
            </a:r>
            <a:endParaRPr lang="en-US" sz="1400" dirty="0"/>
          </a:p>
        </p:txBody>
      </p:sp>
      <p:sp>
        <p:nvSpPr>
          <p:cNvPr id="15" name="Shape 12"/>
          <p:cNvSpPr/>
          <p:nvPr/>
        </p:nvSpPr>
        <p:spPr>
          <a:xfrm>
            <a:off x="6159500" y="5265704"/>
            <a:ext cx="2546366" cy="779529"/>
          </a:xfrm>
          <a:prstGeom prst="roundRect">
            <a:avLst>
              <a:gd name="adj" fmla="val 16292"/>
            </a:avLst>
          </a:prstGeom>
          <a:solidFill>
            <a:srgbClr val="26235E"/>
          </a:solidFill>
          <a:ln/>
        </p:spPr>
        <p:txBody>
          <a:bodyPr/>
          <a:lstStyle/>
          <a:p>
            <a:endParaRPr lang="en-IN"/>
          </a:p>
        </p:txBody>
      </p:sp>
      <p:sp>
        <p:nvSpPr>
          <p:cNvPr id="16" name="Text 13"/>
          <p:cNvSpPr/>
          <p:nvPr/>
        </p:nvSpPr>
        <p:spPr>
          <a:xfrm>
            <a:off x="6324534"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Dev</a:t>
            </a:r>
            <a:endParaRPr lang="en-US" sz="1200" dirty="0"/>
          </a:p>
        </p:txBody>
      </p:sp>
      <p:sp>
        <p:nvSpPr>
          <p:cNvPr id="17" name="Text 14"/>
          <p:cNvSpPr/>
          <p:nvPr/>
        </p:nvSpPr>
        <p:spPr>
          <a:xfrm>
            <a:off x="6324534"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[Name]</a:t>
            </a:r>
            <a:endParaRPr lang="en-US" sz="1400" dirty="0"/>
          </a:p>
        </p:txBody>
      </p:sp>
      <p:sp>
        <p:nvSpPr>
          <p:cNvPr id="18" name="Shape 15"/>
          <p:cNvSpPr/>
          <p:nvPr/>
        </p:nvSpPr>
        <p:spPr>
          <a:xfrm>
            <a:off x="8832866" y="5265704"/>
            <a:ext cx="2546366" cy="779529"/>
          </a:xfrm>
          <a:prstGeom prst="roundRect">
            <a:avLst>
              <a:gd name="adj" fmla="val 16292"/>
            </a:avLst>
          </a:prstGeom>
          <a:solidFill>
            <a:srgbClr val="26235E"/>
          </a:solidFill>
          <a:ln/>
        </p:spPr>
        <p:txBody>
          <a:bodyPr/>
          <a:lstStyle/>
          <a:p>
            <a:endParaRPr lang="en-IN"/>
          </a:p>
        </p:txBody>
      </p:sp>
      <p:sp>
        <p:nvSpPr>
          <p:cNvPr id="19" name="Text 16"/>
          <p:cNvSpPr/>
          <p:nvPr/>
        </p:nvSpPr>
        <p:spPr>
          <a:xfrm>
            <a:off x="8997900"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QA</a:t>
            </a:r>
            <a:endParaRPr lang="en-US" sz="1200" dirty="0"/>
          </a:p>
        </p:txBody>
      </p:sp>
      <p:sp>
        <p:nvSpPr>
          <p:cNvPr id="20" name="Text 17"/>
          <p:cNvSpPr/>
          <p:nvPr/>
        </p:nvSpPr>
        <p:spPr>
          <a:xfrm>
            <a:off x="8997900"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[Name]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[One sentence: who struggles, with what]</a:t>
            </a:r>
            <a:endParaRPr lang="en-US" sz="3200" dirty="0"/>
          </a:p>
        </p:txBody>
      </p:sp>
      <p:sp>
        <p:nvSpPr>
          <p:cNvPr id="4" name="Shape 2"/>
          <p:cNvSpPr/>
          <p:nvPr/>
        </p:nvSpPr>
        <p:spPr>
          <a:xfrm>
            <a:off x="812767" y="1782878"/>
            <a:ext cx="3302000" cy="2732484"/>
          </a:xfrm>
          <a:prstGeom prst="roundRect">
            <a:avLst>
              <a:gd name="adj" fmla="val 6507"/>
            </a:avLst>
          </a:prstGeom>
          <a:solidFill>
            <a:srgbClr val="312F92"/>
          </a:solidFill>
          <a:ln/>
        </p:spPr>
        <p:txBody>
          <a:bodyPr/>
          <a:lstStyle/>
          <a:p>
            <a:endParaRPr lang="en-IN"/>
          </a:p>
        </p:txBody>
      </p:sp>
      <p:pic>
        <p:nvPicPr>
          <p:cNvPr id="5" name="Image 0" descr="Users"/>
          <p:cNvPicPr>
            <a:picLocks noChangeAspect="1"/>
          </p:cNvPicPr>
          <p:nvPr/>
        </p:nvPicPr>
        <p:blipFill>
          <a:blip r:embed="rId3"/>
          <a:srcRect/>
          <a:stretch/>
        </p:blipFill>
        <p:spPr>
          <a:xfrm>
            <a:off x="1041301" y="2011412"/>
            <a:ext cx="355534" cy="355534"/>
          </a:xfrm>
          <a:prstGeom prst="rect">
            <a:avLst/>
          </a:prstGeom>
        </p:spPr>
      </p:pic>
      <p:sp>
        <p:nvSpPr>
          <p:cNvPr id="6" name="Text 3"/>
          <p:cNvSpPr/>
          <p:nvPr/>
        </p:nvSpPr>
        <p:spPr>
          <a:xfrm>
            <a:off x="1041301" y="2455829"/>
            <a:ext cx="29302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B066"/>
                </a:solidFill>
                <a:latin typeface="Arial" pitchFamily="34" charset="0"/>
                <a:ea typeface="Arial" pitchFamily="34" charset="-122"/>
                <a:cs typeface="Arial" pitchFamily="34" charset="-120"/>
              </a:rPr>
              <a:t>PERSONA</a:t>
            </a:r>
            <a:endParaRPr lang="en-US" sz="1200" dirty="0"/>
          </a:p>
        </p:txBody>
      </p:sp>
      <p:sp>
        <p:nvSpPr>
          <p:cNvPr id="7" name="Text 4"/>
          <p:cNvSpPr/>
          <p:nvPr/>
        </p:nvSpPr>
        <p:spPr>
          <a:xfrm>
            <a:off x="1041301" y="2758033"/>
            <a:ext cx="293028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BF8F2"/>
                </a:solidFill>
                <a:latin typeface="Arial" pitchFamily="34" charset="0"/>
                <a:ea typeface="Arial" pitchFamily="34" charset="-122"/>
                <a:cs typeface="Arial" pitchFamily="34" charset="-120"/>
              </a:rPr>
              <a:t>[Name, role]</a:t>
            </a:r>
            <a:endParaRPr lang="en-US" sz="2200" dirty="0"/>
          </a:p>
        </p:txBody>
      </p:sp>
      <p:sp>
        <p:nvSpPr>
          <p:cNvPr id="8" name="Text 5"/>
          <p:cNvSpPr/>
          <p:nvPr/>
        </p:nvSpPr>
        <p:spPr>
          <a:xfrm>
            <a:off x="1041301" y="3238004"/>
            <a:ext cx="2930280"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[Age or year, where they are, one detail that makes them real]</a:t>
            </a:r>
            <a:endParaRPr lang="en-US" sz="1300" dirty="0"/>
          </a:p>
        </p:txBody>
      </p:sp>
      <p:sp>
        <p:nvSpPr>
          <p:cNvPr id="9" name="Shape 6"/>
          <p:cNvSpPr/>
          <p:nvPr/>
        </p:nvSpPr>
        <p:spPr>
          <a:xfrm>
            <a:off x="4324267" y="1789228"/>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0" name="Text 7"/>
          <p:cNvSpPr/>
          <p:nvPr/>
        </p:nvSpPr>
        <p:spPr>
          <a:xfrm>
            <a:off x="4506268" y="1945845"/>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1</a:t>
            </a:r>
            <a:endParaRPr lang="en-US" sz="1200" dirty="0"/>
          </a:p>
        </p:txBody>
      </p:sp>
      <p:sp>
        <p:nvSpPr>
          <p:cNvPr id="11" name="Text 8"/>
          <p:cNvSpPr/>
          <p:nvPr/>
        </p:nvSpPr>
        <p:spPr>
          <a:xfrm>
            <a:off x="4506268" y="2197199"/>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[What goes wrong for them, in their words]</a:t>
            </a:r>
            <a:endParaRPr lang="en-US" sz="1400" dirty="0"/>
          </a:p>
        </p:txBody>
      </p:sp>
      <p:sp>
        <p:nvSpPr>
          <p:cNvPr id="12" name="Shape 9"/>
          <p:cNvSpPr/>
          <p:nvPr/>
        </p:nvSpPr>
        <p:spPr>
          <a:xfrm>
            <a:off x="4324267" y="2742389"/>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3" name="Text 10"/>
          <p:cNvSpPr/>
          <p:nvPr/>
        </p:nvSpPr>
        <p:spPr>
          <a:xfrm>
            <a:off x="4506268" y="2899006"/>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2</a:t>
            </a:r>
            <a:endParaRPr lang="en-US" sz="1200" dirty="0"/>
          </a:p>
        </p:txBody>
      </p:sp>
      <p:sp>
        <p:nvSpPr>
          <p:cNvPr id="14" name="Text 11"/>
          <p:cNvSpPr/>
          <p:nvPr/>
        </p:nvSpPr>
        <p:spPr>
          <a:xfrm>
            <a:off x="4506268" y="3150360"/>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[What it costs them: time, money, stress]</a:t>
            </a:r>
            <a:endParaRPr lang="en-US" sz="1400" dirty="0"/>
          </a:p>
        </p:txBody>
      </p:sp>
      <p:sp>
        <p:nvSpPr>
          <p:cNvPr id="15" name="Shape 12"/>
          <p:cNvSpPr/>
          <p:nvPr/>
        </p:nvSpPr>
        <p:spPr>
          <a:xfrm>
            <a:off x="4324267" y="3695551"/>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6" name="Text 13"/>
          <p:cNvSpPr/>
          <p:nvPr/>
        </p:nvSpPr>
        <p:spPr>
          <a:xfrm>
            <a:off x="4506268" y="385216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What they do today</a:t>
            </a:r>
            <a:endParaRPr lang="en-US" sz="1200" dirty="0"/>
          </a:p>
        </p:txBody>
      </p:sp>
      <p:sp>
        <p:nvSpPr>
          <p:cNvPr id="17" name="Text 14"/>
          <p:cNvSpPr/>
          <p:nvPr/>
        </p:nvSpPr>
        <p:spPr>
          <a:xfrm>
            <a:off x="4506268" y="4103522"/>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[Their current workaround, and why it falls short]</a:t>
            </a:r>
            <a:endParaRPr lang="en-US" sz="1400" dirty="0"/>
          </a:p>
        </p:txBody>
      </p:sp>
      <p:sp>
        <p:nvSpPr>
          <p:cNvPr id="18" name="Text 15"/>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[Team name] · JJCET AI-PDLC Hackathon</a:t>
            </a:r>
            <a:endParaRPr lang="en-US" sz="1200" dirty="0"/>
          </a:p>
        </p:txBody>
      </p:sp>
      <p:sp>
        <p:nvSpPr>
          <p:cNvPr id="19" name="Text 16"/>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821E"/>
        </a:solidFill>
        <a:effectLst/>
      </p:bgPr>
    </p:bg>
    <p:spTree>
      <p:nvGrpSpPr>
        <p:cNvPr id="1" name=""/>
        <p:cNvGrpSpPr/>
        <p:nvPr/>
      </p:nvGrpSpPr>
      <p:grpSpPr>
        <a:xfrm>
          <a:off x="0" y="0"/>
          <a:ext cx="0" cy="0"/>
          <a:chOff x="0" y="0"/>
          <a:chExt cx="0" cy="0"/>
        </a:xfrm>
      </p:grpSpPr>
      <p:sp>
        <p:nvSpPr>
          <p:cNvPr id="2" name="Text 0"/>
          <p:cNvSpPr/>
          <p:nvPr/>
        </p:nvSpPr>
        <p:spPr>
          <a:xfrm>
            <a:off x="812767" y="2014305"/>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154A"/>
                </a:solidFill>
                <a:latin typeface="Arial" pitchFamily="34" charset="0"/>
                <a:ea typeface="Arial" pitchFamily="34" charset="-122"/>
                <a:cs typeface="Arial" pitchFamily="34" charset="-120"/>
              </a:rPr>
              <a:t>WHAT OUR MRD TAUGHT US</a:t>
            </a:r>
            <a:endParaRPr lang="en-US" sz="1200" dirty="0"/>
          </a:p>
        </p:txBody>
      </p:sp>
      <p:sp>
        <p:nvSpPr>
          <p:cNvPr id="3" name="Text 1"/>
          <p:cNvSpPr>
            <a:spLocks noGrp="1"/>
          </p:cNvSpPr>
          <p:nvPr>
            <p:ph type="title"/>
          </p:nvPr>
        </p:nvSpPr>
        <p:spPr>
          <a:xfrm>
            <a:off x="812767" y="2481625"/>
            <a:ext cx="9810750" cy="1142934"/>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7154A"/>
                </a:solidFill>
                <a:latin typeface="Arial" pitchFamily="34" charset="0"/>
                <a:ea typeface="Arial" pitchFamily="34" charset="-122"/>
                <a:cs typeface="Arial" pitchFamily="34" charset="-120"/>
              </a:rPr>
              <a:t>“[The one insight that changed what you built]”</a:t>
            </a:r>
            <a:endParaRPr lang="en-US" sz="4000" dirty="0"/>
          </a:p>
        </p:txBody>
      </p:sp>
      <p:sp>
        <p:nvSpPr>
          <p:cNvPr id="4" name="Shape 2"/>
          <p:cNvSpPr/>
          <p:nvPr/>
        </p:nvSpPr>
        <p:spPr>
          <a:xfrm>
            <a:off x="812767" y="3853160"/>
            <a:ext cx="5207000" cy="787218"/>
          </a:xfrm>
          <a:prstGeom prst="roundRect">
            <a:avLst>
              <a:gd name="adj" fmla="val 16133"/>
            </a:avLst>
          </a:prstGeom>
          <a:solidFill>
            <a:srgbClr val="17154A"/>
          </a:solidFill>
          <a:ln/>
        </p:spPr>
        <p:txBody>
          <a:bodyPr/>
          <a:lstStyle/>
          <a:p>
            <a:endParaRPr lang="en-IN"/>
          </a:p>
        </p:txBody>
      </p:sp>
      <p:sp>
        <p:nvSpPr>
          <p:cNvPr id="5" name="Text 3"/>
          <p:cNvSpPr/>
          <p:nvPr/>
        </p:nvSpPr>
        <p:spPr>
          <a:xfrm>
            <a:off x="990534" y="4005543"/>
            <a:ext cx="499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Evidence</a:t>
            </a:r>
            <a:endParaRPr lang="en-US" sz="1200" dirty="0"/>
          </a:p>
        </p:txBody>
      </p:sp>
      <p:sp>
        <p:nvSpPr>
          <p:cNvPr id="6" name="Text 4"/>
          <p:cNvSpPr/>
          <p:nvPr/>
        </p:nvSpPr>
        <p:spPr>
          <a:xfrm>
            <a:off x="990534" y="4256897"/>
            <a:ext cx="4997010"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[What you found, and where]</a:t>
            </a:r>
            <a:endParaRPr lang="en-US" sz="1300" dirty="0"/>
          </a:p>
        </p:txBody>
      </p:sp>
      <p:sp>
        <p:nvSpPr>
          <p:cNvPr id="7" name="Shape 5"/>
          <p:cNvSpPr/>
          <p:nvPr/>
        </p:nvSpPr>
        <p:spPr>
          <a:xfrm>
            <a:off x="6172150" y="3853160"/>
            <a:ext cx="5207083" cy="787218"/>
          </a:xfrm>
          <a:prstGeom prst="roundRect">
            <a:avLst>
              <a:gd name="adj" fmla="val 16133"/>
            </a:avLst>
          </a:prstGeom>
          <a:solidFill>
            <a:srgbClr val="17154A"/>
          </a:solidFill>
          <a:ln/>
        </p:spPr>
        <p:txBody>
          <a:bodyPr/>
          <a:lstStyle/>
          <a:p>
            <a:endParaRPr lang="en-IN"/>
          </a:p>
        </p:txBody>
      </p:sp>
      <p:sp>
        <p:nvSpPr>
          <p:cNvPr id="8" name="Text 6"/>
          <p:cNvSpPr/>
          <p:nvPr/>
        </p:nvSpPr>
        <p:spPr>
          <a:xfrm>
            <a:off x="6349917" y="4005543"/>
            <a:ext cx="4997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Assumption</a:t>
            </a:r>
            <a:endParaRPr lang="en-US" sz="1200" dirty="0"/>
          </a:p>
        </p:txBody>
      </p:sp>
      <p:sp>
        <p:nvSpPr>
          <p:cNvPr id="9" name="Text 7"/>
          <p:cNvSpPr/>
          <p:nvPr/>
        </p:nvSpPr>
        <p:spPr>
          <a:xfrm>
            <a:off x="6349917" y="4256897"/>
            <a:ext cx="4997095"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[What you believe but couldn’t verify]</a:t>
            </a:r>
            <a:endParaRPr lang="en-US" sz="1300" dirty="0"/>
          </a:p>
        </p:txBody>
      </p:sp>
      <p:sp>
        <p:nvSpPr>
          <p:cNvPr id="10" name="Text 8"/>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1A08"/>
                </a:solidFill>
                <a:latin typeface="Arial" pitchFamily="34" charset="0"/>
                <a:ea typeface="Arial" pitchFamily="34" charset="-122"/>
                <a:cs typeface="Arial" pitchFamily="34" charset="-120"/>
              </a:rPr>
              <a:t>[Team name] · JJCET AI-PDLC Hackathon</a:t>
            </a:r>
            <a:endParaRPr lang="en-US" sz="1200" dirty="0"/>
          </a:p>
        </p:txBody>
      </p:sp>
      <p:sp>
        <p:nvSpPr>
          <p:cNvPr id="11" name="Text 9"/>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B1A0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PRODUCT DECISIONS</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we built, and what we cut</a:t>
            </a:r>
            <a:endParaRPr lang="en-US" sz="3200" dirty="0"/>
          </a:p>
        </p:txBody>
      </p:sp>
      <p:sp>
        <p:nvSpPr>
          <p:cNvPr id="4" name="Shape 2"/>
          <p:cNvSpPr/>
          <p:nvPr/>
        </p:nvSpPr>
        <p:spPr>
          <a:xfrm>
            <a:off x="812767" y="1782877"/>
            <a:ext cx="5171033" cy="2078385"/>
          </a:xfrm>
          <a:prstGeom prst="roundRect">
            <a:avLst>
              <a:gd name="adj" fmla="val 8555"/>
            </a:avLst>
          </a:prstGeom>
          <a:solidFill>
            <a:srgbClr val="312F92"/>
          </a:solidFill>
          <a:ln/>
        </p:spPr>
        <p:txBody>
          <a:bodyPr/>
          <a:lstStyle/>
          <a:p>
            <a:endParaRPr lang="en-IN"/>
          </a:p>
        </p:txBody>
      </p:sp>
      <p:sp>
        <p:nvSpPr>
          <p:cNvPr id="5" name="Text 3"/>
          <p:cNvSpPr/>
          <p:nvPr/>
        </p:nvSpPr>
        <p:spPr>
          <a:xfrm>
            <a:off x="1041301" y="2011412"/>
            <a:ext cx="4855384"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B066"/>
                </a:solidFill>
                <a:latin typeface="Arial" pitchFamily="34" charset="0"/>
                <a:ea typeface="Arial" pitchFamily="34" charset="-122"/>
                <a:cs typeface="Arial" pitchFamily="34" charset="-120"/>
              </a:rPr>
              <a:t>MUST-HAVE · BUILT</a:t>
            </a:r>
            <a:endParaRPr lang="en-US" sz="1300" dirty="0"/>
          </a:p>
        </p:txBody>
      </p:sp>
      <p:pic>
        <p:nvPicPr>
          <p:cNvPr id="6" name="Image 0" descr="CheckCircle"/>
          <p:cNvPicPr>
            <a:picLocks noChangeAspect="1"/>
          </p:cNvPicPr>
          <p:nvPr/>
        </p:nvPicPr>
        <p:blipFill>
          <a:blip r:embed="rId3"/>
          <a:srcRect/>
          <a:stretch/>
        </p:blipFill>
        <p:spPr>
          <a:xfrm>
            <a:off x="1041301" y="2356776"/>
            <a:ext cx="228534" cy="228534"/>
          </a:xfrm>
          <a:prstGeom prst="rect">
            <a:avLst/>
          </a:prstGeom>
        </p:spPr>
      </p:pic>
      <p:sp>
        <p:nvSpPr>
          <p:cNvPr id="7" name="Text 4"/>
          <p:cNvSpPr/>
          <p:nvPr/>
        </p:nvSpPr>
        <p:spPr>
          <a:xfrm>
            <a:off x="1371368" y="235677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[Feature 1, from your PRD]</a:t>
            </a:r>
            <a:endParaRPr lang="en-US" sz="1400" dirty="0"/>
          </a:p>
        </p:txBody>
      </p:sp>
      <p:pic>
        <p:nvPicPr>
          <p:cNvPr id="8" name="Image 1" descr="CheckCircle"/>
          <p:cNvPicPr>
            <a:picLocks noChangeAspect="1"/>
          </p:cNvPicPr>
          <p:nvPr/>
        </p:nvPicPr>
        <p:blipFill>
          <a:blip r:embed="rId3"/>
          <a:srcRect/>
          <a:stretch/>
        </p:blipFill>
        <p:spPr>
          <a:xfrm>
            <a:off x="1041301" y="2710986"/>
            <a:ext cx="228534" cy="228534"/>
          </a:xfrm>
          <a:prstGeom prst="rect">
            <a:avLst/>
          </a:prstGeom>
        </p:spPr>
      </p:pic>
      <p:sp>
        <p:nvSpPr>
          <p:cNvPr id="9" name="Text 5"/>
          <p:cNvSpPr/>
          <p:nvPr/>
        </p:nvSpPr>
        <p:spPr>
          <a:xfrm>
            <a:off x="1371368" y="271098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[Feature 2]</a:t>
            </a:r>
            <a:endParaRPr lang="en-US" sz="1400" dirty="0"/>
          </a:p>
        </p:txBody>
      </p:sp>
      <p:pic>
        <p:nvPicPr>
          <p:cNvPr id="10" name="Image 2" descr="CheckCircle"/>
          <p:cNvPicPr>
            <a:picLocks noChangeAspect="1"/>
          </p:cNvPicPr>
          <p:nvPr/>
        </p:nvPicPr>
        <p:blipFill>
          <a:blip r:embed="rId3"/>
          <a:srcRect/>
          <a:stretch/>
        </p:blipFill>
        <p:spPr>
          <a:xfrm>
            <a:off x="1041301" y="3065197"/>
            <a:ext cx="228534" cy="228534"/>
          </a:xfrm>
          <a:prstGeom prst="rect">
            <a:avLst/>
          </a:prstGeom>
        </p:spPr>
      </p:pic>
      <p:sp>
        <p:nvSpPr>
          <p:cNvPr id="11" name="Text 6"/>
          <p:cNvSpPr/>
          <p:nvPr/>
        </p:nvSpPr>
        <p:spPr>
          <a:xfrm>
            <a:off x="1371368" y="3065197"/>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[Feature 3]</a:t>
            </a:r>
            <a:endParaRPr lang="en-US" sz="1400" dirty="0"/>
          </a:p>
        </p:txBody>
      </p:sp>
      <p:sp>
        <p:nvSpPr>
          <p:cNvPr id="12" name="Text 7"/>
          <p:cNvSpPr/>
          <p:nvPr/>
        </p:nvSpPr>
        <p:spPr>
          <a:xfrm>
            <a:off x="1041301" y="3419408"/>
            <a:ext cx="4855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6D3F0"/>
                </a:solidFill>
                <a:latin typeface="Arial" pitchFamily="34" charset="0"/>
                <a:ea typeface="Arial" pitchFamily="34" charset="-122"/>
                <a:cs typeface="Arial" pitchFamily="34" charset="-120"/>
              </a:rPr>
              <a:t>Success metric: [how you’d know it works]</a:t>
            </a:r>
            <a:endParaRPr lang="en-US" sz="1200" dirty="0"/>
          </a:p>
        </p:txBody>
      </p:sp>
      <p:sp>
        <p:nvSpPr>
          <p:cNvPr id="13" name="Shape 8"/>
          <p:cNvSpPr/>
          <p:nvPr/>
        </p:nvSpPr>
        <p:spPr>
          <a:xfrm>
            <a:off x="6193300" y="1789227"/>
            <a:ext cx="5179582" cy="2065685"/>
          </a:xfrm>
          <a:prstGeom prst="roundRect">
            <a:avLst>
              <a:gd name="adj" fmla="val 8300"/>
            </a:avLst>
          </a:prstGeom>
          <a:solidFill>
            <a:srgbClr val="FFFDF9"/>
          </a:solidFill>
          <a:ln w="12700">
            <a:solidFill>
              <a:srgbClr val="E3E0F2"/>
            </a:solidFill>
            <a:prstDash val="solid"/>
          </a:ln>
        </p:spPr>
        <p:txBody>
          <a:bodyPr/>
          <a:lstStyle/>
          <a:p>
            <a:endParaRPr lang="en-IN"/>
          </a:p>
        </p:txBody>
      </p:sp>
      <p:sp>
        <p:nvSpPr>
          <p:cNvPr id="14" name="Text 9"/>
          <p:cNvSpPr/>
          <p:nvPr/>
        </p:nvSpPr>
        <p:spPr>
          <a:xfrm>
            <a:off x="6426067" y="2021994"/>
            <a:ext cx="4855469"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3E05"/>
                </a:solidFill>
                <a:latin typeface="Arial" pitchFamily="34" charset="0"/>
                <a:ea typeface="Arial" pitchFamily="34" charset="-122"/>
                <a:cs typeface="Arial" pitchFamily="34" charset="-120"/>
              </a:rPr>
              <a:t>CUT ON PURPOSE</a:t>
            </a:r>
            <a:endParaRPr lang="en-US" sz="1300" dirty="0"/>
          </a:p>
        </p:txBody>
      </p:sp>
      <p:sp>
        <p:nvSpPr>
          <p:cNvPr id="15" name="Text 10"/>
          <p:cNvSpPr/>
          <p:nvPr/>
        </p:nvSpPr>
        <p:spPr>
          <a:xfrm>
            <a:off x="6426067" y="2367359"/>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[Feature you dropped] — [why]</a:t>
            </a:r>
            <a:endParaRPr lang="en-US" sz="1400" dirty="0"/>
          </a:p>
        </p:txBody>
      </p:sp>
      <p:sp>
        <p:nvSpPr>
          <p:cNvPr id="16" name="Text 11"/>
          <p:cNvSpPr/>
          <p:nvPr/>
        </p:nvSpPr>
        <p:spPr>
          <a:xfrm>
            <a:off x="6426067" y="2721570"/>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[Feature you dropped] — [why]</a:t>
            </a:r>
            <a:endParaRPr lang="en-US" sz="1400" dirty="0"/>
          </a:p>
        </p:txBody>
      </p:sp>
      <p:sp>
        <p:nvSpPr>
          <p:cNvPr id="17" name="Text 12"/>
          <p:cNvSpPr/>
          <p:nvPr/>
        </p:nvSpPr>
        <p:spPr>
          <a:xfrm>
            <a:off x="6426067" y="3075781"/>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[Feature you dropped] — [why]</a:t>
            </a:r>
            <a:endParaRPr lang="en-US" sz="14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[Team name]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54A"/>
        </a:solidFill>
        <a:effectLst/>
      </p:bgPr>
    </p:bg>
    <p:spTree>
      <p:nvGrpSpPr>
        <p:cNvPr id="1" name=""/>
        <p:cNvGrpSpPr/>
        <p:nvPr/>
      </p:nvGrpSpPr>
      <p:grpSpPr>
        <a:xfrm>
          <a:off x="0" y="0"/>
          <a:ext cx="0" cy="0"/>
          <a:chOff x="0" y="0"/>
          <a:chExt cx="0" cy="0"/>
        </a:xfrm>
      </p:grpSpPr>
      <p:sp>
        <p:nvSpPr>
          <p:cNvPr id="2" name="Text 0"/>
          <p:cNvSpPr/>
          <p:nvPr/>
        </p:nvSpPr>
        <p:spPr>
          <a:xfrm>
            <a:off x="812767" y="812766"/>
            <a:ext cx="73824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B066"/>
                </a:solidFill>
                <a:latin typeface="Arial" pitchFamily="34" charset="0"/>
                <a:ea typeface="Arial" pitchFamily="34" charset="-122"/>
                <a:cs typeface="Arial" pitchFamily="34" charset="-120"/>
              </a:rPr>
              <a:t>LIVE DEMO – 15 MIN</a:t>
            </a:r>
            <a:endParaRPr lang="en-US" sz="1200" dirty="0"/>
          </a:p>
        </p:txBody>
      </p:sp>
      <p:grpSp>
        <p:nvGrpSpPr>
          <p:cNvPr id="12" name="Group 11">
            <a:extLst>
              <a:ext uri="{FF2B5EF4-FFF2-40B4-BE49-F238E27FC236}">
                <a16:creationId xmlns:a16="http://schemas.microsoft.com/office/drawing/2014/main" id="{02CC949A-F025-BDE3-35E4-1AB388A675A6}"/>
              </a:ext>
            </a:extLst>
          </p:cNvPr>
          <p:cNvGrpSpPr/>
          <p:nvPr/>
        </p:nvGrpSpPr>
        <p:grpSpPr>
          <a:xfrm>
            <a:off x="726503" y="1482393"/>
            <a:ext cx="10566466" cy="508000"/>
            <a:chOff x="812767" y="4299396"/>
            <a:chExt cx="10566466" cy="508000"/>
          </a:xfrm>
        </p:grpSpPr>
        <p:sp>
          <p:nvSpPr>
            <p:cNvPr id="5" name="Shape 2"/>
            <p:cNvSpPr/>
            <p:nvPr/>
          </p:nvSpPr>
          <p:spPr>
            <a:xfrm>
              <a:off x="812767" y="4299396"/>
              <a:ext cx="10566466" cy="508000"/>
            </a:xfrm>
            <a:prstGeom prst="roundRect">
              <a:avLst>
                <a:gd name="adj" fmla="val 25000"/>
              </a:avLst>
            </a:prstGeom>
            <a:solidFill>
              <a:srgbClr val="F8821E"/>
            </a:solidFill>
            <a:ln/>
          </p:spPr>
          <p:txBody>
            <a:bodyPr/>
            <a:lstStyle/>
            <a:p>
              <a:endParaRPr lang="en-IN"/>
            </a:p>
          </p:txBody>
        </p:sp>
        <p:pic>
          <p:nvPicPr>
            <p:cNvPr id="6" name="Image 0" descr="Play"/>
            <p:cNvPicPr>
              <a:picLocks noChangeAspect="1"/>
            </p:cNvPicPr>
            <p:nvPr/>
          </p:nvPicPr>
          <p:blipFill>
            <a:blip r:embed="rId3"/>
            <a:srcRect/>
            <a:stretch/>
          </p:blipFill>
          <p:spPr>
            <a:xfrm>
              <a:off x="990534" y="4426396"/>
              <a:ext cx="254000" cy="254000"/>
            </a:xfrm>
            <a:prstGeom prst="rect">
              <a:avLst/>
            </a:prstGeom>
          </p:spPr>
        </p:pic>
        <p:sp>
          <p:nvSpPr>
            <p:cNvPr id="7" name="Text 3"/>
            <p:cNvSpPr/>
            <p:nvPr/>
          </p:nvSpPr>
          <p:spPr>
            <a:xfrm>
              <a:off x="1371534" y="4428958"/>
              <a:ext cx="6808787"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54A"/>
                  </a:solidFill>
                  <a:latin typeface="Arial" pitchFamily="34" charset="0"/>
                  <a:ea typeface="Arial" pitchFamily="34" charset="-122"/>
                  <a:cs typeface="Arial" pitchFamily="34" charset="-120"/>
                </a:rPr>
                <a:t>Switch to the app now. Backup recording: [file name, ready to play]</a:t>
              </a:r>
              <a:endParaRPr lang="en-US" sz="1400" dirty="0"/>
            </a:p>
          </p:txBody>
        </p:sp>
      </p:gr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6D6"/>
                </a:solidFill>
                <a:latin typeface="Arial" pitchFamily="34" charset="0"/>
                <a:ea typeface="Arial" pitchFamily="34" charset="-122"/>
                <a:cs typeface="Arial" pitchFamily="34" charset="-120"/>
              </a:rPr>
              <a:t>[Team name] · JJCET AI-PDLC Hackathon</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6D6"/>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HOW WE USED AI</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worked, what it got wrong, what we changed</a:t>
            </a:r>
            <a:endParaRPr lang="en-US" sz="3200" dirty="0"/>
          </a:p>
        </p:txBody>
      </p:sp>
      <p:sp>
        <p:nvSpPr>
          <p:cNvPr id="4" name="Shape 2"/>
          <p:cNvSpPr/>
          <p:nvPr/>
        </p:nvSpPr>
        <p:spPr>
          <a:xfrm>
            <a:off x="819117" y="1789227"/>
            <a:ext cx="3414894"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5" name="Image 0" descr="ThumbsUp"/>
          <p:cNvPicPr>
            <a:picLocks noChangeAspect="1"/>
          </p:cNvPicPr>
          <p:nvPr/>
        </p:nvPicPr>
        <p:blipFill>
          <a:blip r:embed="rId3"/>
          <a:srcRect/>
          <a:stretch/>
        </p:blipFill>
        <p:spPr>
          <a:xfrm>
            <a:off x="1026501" y="1996610"/>
            <a:ext cx="254000" cy="254000"/>
          </a:xfrm>
          <a:prstGeom prst="rect">
            <a:avLst/>
          </a:prstGeom>
        </p:spPr>
      </p:pic>
      <p:sp>
        <p:nvSpPr>
          <p:cNvPr id="6" name="Text 3"/>
          <p:cNvSpPr/>
          <p:nvPr/>
        </p:nvSpPr>
        <p:spPr>
          <a:xfrm>
            <a:off x="1369384" y="2001655"/>
            <a:ext cx="228957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Prompt that worked</a:t>
            </a:r>
            <a:endParaRPr lang="en-US" sz="1600" dirty="0"/>
          </a:p>
        </p:txBody>
      </p:sp>
      <p:sp>
        <p:nvSpPr>
          <p:cNvPr id="7" name="Text 4"/>
          <p:cNvSpPr/>
          <p:nvPr/>
        </p:nvSpPr>
        <p:spPr>
          <a:xfrm>
            <a:off x="1026501" y="2339494"/>
            <a:ext cx="3090131"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“[Paste the prompt, shortened]”</a:t>
            </a:r>
            <a:endParaRPr lang="en-US" sz="1300" dirty="0"/>
          </a:p>
        </p:txBody>
      </p:sp>
      <p:sp>
        <p:nvSpPr>
          <p:cNvPr id="8" name="Text 5"/>
          <p:cNvSpPr/>
          <p:nvPr/>
        </p:nvSpPr>
        <p:spPr>
          <a:xfrm>
            <a:off x="1026501" y="2659475"/>
            <a:ext cx="30901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Tool / skill: [e.g. grill-me, AI-DLC, Kiro]</a:t>
            </a:r>
            <a:endParaRPr lang="en-US" sz="1200" dirty="0"/>
          </a:p>
        </p:txBody>
      </p:sp>
      <p:sp>
        <p:nvSpPr>
          <p:cNvPr id="9" name="Shape 6"/>
          <p:cNvSpPr/>
          <p:nvPr/>
        </p:nvSpPr>
        <p:spPr>
          <a:xfrm>
            <a:off x="4399095" y="1789227"/>
            <a:ext cx="3414977"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10" name="Image 1" descr="Warning"/>
          <p:cNvPicPr>
            <a:picLocks noChangeAspect="1"/>
          </p:cNvPicPr>
          <p:nvPr/>
        </p:nvPicPr>
        <p:blipFill>
          <a:blip r:embed="rId4"/>
          <a:srcRect/>
          <a:stretch/>
        </p:blipFill>
        <p:spPr>
          <a:xfrm>
            <a:off x="4606479" y="1996610"/>
            <a:ext cx="254000" cy="254000"/>
          </a:xfrm>
          <a:prstGeom prst="rect">
            <a:avLst/>
          </a:prstGeom>
        </p:spPr>
      </p:pic>
      <p:sp>
        <p:nvSpPr>
          <p:cNvPr id="11" name="Text 7"/>
          <p:cNvSpPr/>
          <p:nvPr/>
        </p:nvSpPr>
        <p:spPr>
          <a:xfrm>
            <a:off x="4949362" y="2001655"/>
            <a:ext cx="214451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What AI got wrong</a:t>
            </a:r>
            <a:endParaRPr lang="en-US" sz="1600" dirty="0"/>
          </a:p>
        </p:txBody>
      </p:sp>
      <p:sp>
        <p:nvSpPr>
          <p:cNvPr id="12" name="Text 8"/>
          <p:cNvSpPr/>
          <p:nvPr/>
        </p:nvSpPr>
        <p:spPr>
          <a:xfrm>
            <a:off x="4606479" y="2339494"/>
            <a:ext cx="3090216"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[A made-up fact, a broken feature, a weak story]</a:t>
            </a:r>
            <a:endParaRPr lang="en-US" sz="1300" dirty="0"/>
          </a:p>
        </p:txBody>
      </p:sp>
      <p:sp>
        <p:nvSpPr>
          <p:cNvPr id="13" name="Text 9"/>
          <p:cNvSpPr/>
          <p:nvPr/>
        </p:nvSpPr>
        <p:spPr>
          <a:xfrm>
            <a:off x="4606479" y="2890571"/>
            <a:ext cx="30902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How we caught it: [test, review, mentor]</a:t>
            </a:r>
            <a:endParaRPr lang="en-US" sz="1200" dirty="0"/>
          </a:p>
        </p:txBody>
      </p:sp>
      <p:sp>
        <p:nvSpPr>
          <p:cNvPr id="14" name="Shape 10"/>
          <p:cNvSpPr/>
          <p:nvPr/>
        </p:nvSpPr>
        <p:spPr>
          <a:xfrm>
            <a:off x="7972805" y="1782877"/>
            <a:ext cx="3406428" cy="1534749"/>
          </a:xfrm>
          <a:prstGeom prst="roundRect">
            <a:avLst>
              <a:gd name="adj" fmla="val 9930"/>
            </a:avLst>
          </a:prstGeom>
          <a:solidFill>
            <a:srgbClr val="312F92"/>
          </a:solidFill>
          <a:ln/>
        </p:spPr>
        <p:txBody>
          <a:bodyPr/>
          <a:lstStyle/>
          <a:p>
            <a:endParaRPr lang="en-IN"/>
          </a:p>
        </p:txBody>
      </p:sp>
      <p:pic>
        <p:nvPicPr>
          <p:cNvPr id="15" name="Image 2" descr="Wrench"/>
          <p:cNvPicPr>
            <a:picLocks noChangeAspect="1"/>
          </p:cNvPicPr>
          <p:nvPr/>
        </p:nvPicPr>
        <p:blipFill>
          <a:blip r:embed="rId5"/>
          <a:srcRect/>
          <a:stretch/>
        </p:blipFill>
        <p:spPr>
          <a:xfrm>
            <a:off x="8175955" y="1986028"/>
            <a:ext cx="254000" cy="254000"/>
          </a:xfrm>
          <a:prstGeom prst="rect">
            <a:avLst/>
          </a:prstGeom>
        </p:spPr>
      </p:pic>
      <p:sp>
        <p:nvSpPr>
          <p:cNvPr id="16" name="Text 11"/>
          <p:cNvSpPr/>
          <p:nvPr/>
        </p:nvSpPr>
        <p:spPr>
          <a:xfrm>
            <a:off x="8518839" y="1991072"/>
            <a:ext cx="20593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2"/>
                </a:solidFill>
                <a:latin typeface="Arial" pitchFamily="34" charset="0"/>
                <a:ea typeface="Arial" pitchFamily="34" charset="-122"/>
                <a:cs typeface="Arial" pitchFamily="34" charset="-120"/>
              </a:rPr>
              <a:t>What we changed</a:t>
            </a:r>
            <a:endParaRPr lang="en-US" sz="1600" dirty="0"/>
          </a:p>
        </p:txBody>
      </p:sp>
      <p:sp>
        <p:nvSpPr>
          <p:cNvPr id="17" name="Text 12"/>
          <p:cNvSpPr/>
          <p:nvPr/>
        </p:nvSpPr>
        <p:spPr>
          <a:xfrm>
            <a:off x="8175955" y="2328912"/>
            <a:ext cx="3090131"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[How you fixed it, and what you’d do differently next time]</a:t>
            </a:r>
            <a:endParaRPr lang="en-US" sz="13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[Team name]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JJCET Hackathon Team Demo Template">
  <a:themeElements>
    <a:clrScheme name="JJCET Hackathon Team Demo Template">
      <a:dk1>
        <a:srgbClr val="17154A"/>
      </a:dk1>
      <a:lt1>
        <a:srgbClr val="FBF8F2"/>
      </a:lt1>
      <a:dk2>
        <a:srgbClr val="504E74"/>
      </a:dk2>
      <a:lt2>
        <a:srgbClr val="E4E1E1"/>
      </a:lt2>
      <a:accent1>
        <a:srgbClr val="F8821E"/>
      </a:accent1>
      <a:accent2>
        <a:srgbClr val="FFB066"/>
      </a:accent2>
      <a:accent3>
        <a:srgbClr val="312F92"/>
      </a:accent3>
      <a:accent4>
        <a:srgbClr val="8A3E05"/>
      </a:accent4>
      <a:accent5>
        <a:srgbClr val="B4550A"/>
      </a:accent5>
      <a:accent6>
        <a:srgbClr val="A9A6D6"/>
      </a:accent6>
      <a:hlink>
        <a:srgbClr val="0563C1"/>
      </a:hlink>
      <a:folHlink>
        <a:srgbClr val="954F72"/>
      </a:folHlink>
    </a:clrScheme>
    <a:fontScheme name="JJCET Hackathon Team Demo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621</Words>
  <Application>Microsoft Office PowerPoint</Application>
  <PresentationFormat>Widescreen</PresentationFormat>
  <Paragraphs>73</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JJCET Hackathon Team Demo Template</vt:lpstr>
      <vt:lpstr>[Team name]</vt:lpstr>
      <vt:lpstr>[One sentence: who struggles, with what]</vt:lpstr>
      <vt:lpstr>“[The one insight that changed what you built]”</vt:lpstr>
      <vt:lpstr>What we built, and what we cut</vt:lpstr>
      <vt:lpstr>PowerPoint Presentation</vt:lpstr>
      <vt:lpstr>What worked, what it got wrong, what we changed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JJCET Hackathon Team Demo Template</dc:title>
  <dc:subject/>
  <dc:creator/>
  <cp:lastModifiedBy>Shan</cp:lastModifiedBy>
  <cp:revision>1</cp:revision>
  <dcterms:created xsi:type="dcterms:W3CDTF">2026-10-21T16:29:27Z</dcterms:created>
  <dcterms:modified xsi:type="dcterms:W3CDTF">2026-10-21T16:59:14Z</dcterms:modified>
</cp:coreProperties>
</file>